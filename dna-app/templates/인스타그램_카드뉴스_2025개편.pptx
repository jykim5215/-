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4"/>
  </p:sldMasterIdLst>
  <p:sldIdLst>
    <p:sldId id="301" r:id="rId5"/>
    <p:sldId id="292" r:id="rId6"/>
    <p:sldId id="306" r:id="rId7"/>
    <p:sldId id="286" r:id="rId8"/>
    <p:sldId id="287" r:id="rId9"/>
    <p:sldId id="302" r:id="rId10"/>
    <p:sldId id="304" r:id="rId11"/>
    <p:sldId id="303" r:id="rId12"/>
    <p:sldId id="291" r:id="rId13"/>
  </p:sldIdLst>
  <p:sldSz cx="10763250" cy="13454063"/>
  <p:notesSz cx="6858000" cy="9144000"/>
  <p:embeddedFontLst>
    <p:embeddedFont>
      <p:font typeface="Pretendard" panose="020B0604020202020204" charset="-127"/>
      <p:regular r:id="rId14"/>
      <p:bold r:id="rId15"/>
    </p:embeddedFont>
    <p:embeddedFont>
      <p:font typeface="Pretendard ExtraBold" panose="020B0604020202020204" charset="-127"/>
      <p:bold r:id="rId16"/>
    </p:embeddedFont>
    <p:embeddedFont>
      <p:font typeface="Pretendard Light" panose="020B0604020202020204" charset="-127"/>
      <p:regular r:id="rId17"/>
    </p:embeddedFont>
    <p:embeddedFont>
      <p:font typeface="Pretendard Medium" panose="020B0604020202020204" charset="-127"/>
      <p:regular r:id="rId18"/>
    </p:embeddedFont>
    <p:embeddedFont>
      <p:font typeface="나눔스퀘어_ac Bold" panose="020B0604020202020204" charset="-127"/>
      <p:bold r:id="rId19"/>
    </p:embeddedFont>
    <p:embeddedFont>
      <p:font typeface="나눔스퀘어_ac ExtraBold" panose="020B0604020202020204" charset="-127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5" userDrawn="1">
          <p15:clr>
            <a:srgbClr val="A4A3A4"/>
          </p15:clr>
        </p15:guide>
        <p15:guide id="2" pos="33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1FF"/>
    <a:srgbClr val="FFFFFF"/>
    <a:srgbClr val="FFFBF7"/>
    <a:srgbClr val="E8E0CE"/>
    <a:srgbClr val="FBFAEF"/>
    <a:srgbClr val="66CCFF"/>
    <a:srgbClr val="3B3838"/>
    <a:srgbClr val="33CCFF"/>
    <a:srgbClr val="FEF5E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96E45-65BA-4FA0-87E0-52FB6CAAB9DD}" v="12" dt="2025-04-27T15:28:06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084" autoAdjust="0"/>
  </p:normalViewPr>
  <p:slideViewPr>
    <p:cSldViewPr snapToGrid="0">
      <p:cViewPr varScale="1">
        <p:scale>
          <a:sx n="42" d="100"/>
          <a:sy n="42" d="100"/>
        </p:scale>
        <p:origin x="2630" y="67"/>
      </p:cViewPr>
      <p:guideLst>
        <p:guide orient="horz" pos="4215"/>
        <p:guide pos="33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7244" y="2201858"/>
            <a:ext cx="9148763" cy="4684007"/>
          </a:xfrm>
        </p:spPr>
        <p:txBody>
          <a:bodyPr anchor="b"/>
          <a:lstStyle>
            <a:lvl1pPr algn="ctr">
              <a:defRPr sz="70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5406" y="7066499"/>
            <a:ext cx="8072438" cy="3248283"/>
          </a:xfrm>
        </p:spPr>
        <p:txBody>
          <a:bodyPr/>
          <a:lstStyle>
            <a:lvl1pPr marL="0" indent="0" algn="ctr">
              <a:buNone/>
              <a:defRPr sz="2825"/>
            </a:lvl1pPr>
            <a:lvl2pPr marL="538170" indent="0" algn="ctr">
              <a:buNone/>
              <a:defRPr sz="2354"/>
            </a:lvl2pPr>
            <a:lvl3pPr marL="1076340" indent="0" algn="ctr">
              <a:buNone/>
              <a:defRPr sz="2119"/>
            </a:lvl3pPr>
            <a:lvl4pPr marL="1614510" indent="0" algn="ctr">
              <a:buNone/>
              <a:defRPr sz="1883"/>
            </a:lvl4pPr>
            <a:lvl5pPr marL="2152680" indent="0" algn="ctr">
              <a:buNone/>
              <a:defRPr sz="1883"/>
            </a:lvl5pPr>
            <a:lvl6pPr marL="2690851" indent="0" algn="ctr">
              <a:buNone/>
              <a:defRPr sz="1883"/>
            </a:lvl6pPr>
            <a:lvl7pPr marL="3229021" indent="0" algn="ctr">
              <a:buNone/>
              <a:defRPr sz="1883"/>
            </a:lvl7pPr>
            <a:lvl8pPr marL="3767191" indent="0" algn="ctr">
              <a:buNone/>
              <a:defRPr sz="1883"/>
            </a:lvl8pPr>
            <a:lvl9pPr marL="4305361" indent="0" algn="ctr">
              <a:buNone/>
              <a:defRPr sz="188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9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68" y="3354176"/>
            <a:ext cx="9283303" cy="5596516"/>
          </a:xfrm>
        </p:spPr>
        <p:txBody>
          <a:bodyPr anchor="b"/>
          <a:lstStyle>
            <a:lvl1pPr>
              <a:defRPr sz="70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368" y="9003637"/>
            <a:ext cx="9283303" cy="2943075"/>
          </a:xfrm>
        </p:spPr>
        <p:txBody>
          <a:bodyPr/>
          <a:lstStyle>
            <a:lvl1pPr marL="0" indent="0">
              <a:buNone/>
              <a:defRPr sz="2825">
                <a:solidFill>
                  <a:schemeClr val="tx1"/>
                </a:solidFill>
              </a:defRPr>
            </a:lvl1pPr>
            <a:lvl2pPr marL="538170" indent="0">
              <a:buNone/>
              <a:defRPr sz="2354">
                <a:solidFill>
                  <a:schemeClr val="tx1">
                    <a:tint val="75000"/>
                  </a:schemeClr>
                </a:solidFill>
              </a:defRPr>
            </a:lvl2pPr>
            <a:lvl3pPr marL="1076340" indent="0">
              <a:buNone/>
              <a:defRPr sz="2119">
                <a:solidFill>
                  <a:schemeClr val="tx1">
                    <a:tint val="75000"/>
                  </a:schemeClr>
                </a:solidFill>
              </a:defRPr>
            </a:lvl3pPr>
            <a:lvl4pPr marL="1614510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4pPr>
            <a:lvl5pPr marL="2152680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5pPr>
            <a:lvl6pPr marL="269085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6pPr>
            <a:lvl7pPr marL="322902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7pPr>
            <a:lvl8pPr marL="376719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8pPr>
            <a:lvl9pPr marL="430536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74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974" y="3581522"/>
            <a:ext cx="4574381" cy="85364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895" y="3581522"/>
            <a:ext cx="4574381" cy="85364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99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716307"/>
            <a:ext cx="9283303" cy="260049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376" y="3298115"/>
            <a:ext cx="4553359" cy="1616355"/>
          </a:xfrm>
        </p:spPr>
        <p:txBody>
          <a:bodyPr anchor="b"/>
          <a:lstStyle>
            <a:lvl1pPr marL="0" indent="0">
              <a:buNone/>
              <a:defRPr sz="2825" b="1"/>
            </a:lvl1pPr>
            <a:lvl2pPr marL="538170" indent="0">
              <a:buNone/>
              <a:defRPr sz="2354" b="1"/>
            </a:lvl2pPr>
            <a:lvl3pPr marL="1076340" indent="0">
              <a:buNone/>
              <a:defRPr sz="2119" b="1"/>
            </a:lvl3pPr>
            <a:lvl4pPr marL="1614510" indent="0">
              <a:buNone/>
              <a:defRPr sz="1883" b="1"/>
            </a:lvl4pPr>
            <a:lvl5pPr marL="2152680" indent="0">
              <a:buNone/>
              <a:defRPr sz="1883" b="1"/>
            </a:lvl5pPr>
            <a:lvl6pPr marL="2690851" indent="0">
              <a:buNone/>
              <a:defRPr sz="1883" b="1"/>
            </a:lvl6pPr>
            <a:lvl7pPr marL="3229021" indent="0">
              <a:buNone/>
              <a:defRPr sz="1883" b="1"/>
            </a:lvl7pPr>
            <a:lvl8pPr marL="3767191" indent="0">
              <a:buNone/>
              <a:defRPr sz="1883" b="1"/>
            </a:lvl8pPr>
            <a:lvl9pPr marL="4305361" indent="0">
              <a:buNone/>
              <a:defRPr sz="188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376" y="4914470"/>
            <a:ext cx="4553359" cy="72284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896" y="3298115"/>
            <a:ext cx="4575783" cy="1616355"/>
          </a:xfrm>
        </p:spPr>
        <p:txBody>
          <a:bodyPr anchor="b"/>
          <a:lstStyle>
            <a:lvl1pPr marL="0" indent="0">
              <a:buNone/>
              <a:defRPr sz="2825" b="1"/>
            </a:lvl1pPr>
            <a:lvl2pPr marL="538170" indent="0">
              <a:buNone/>
              <a:defRPr sz="2354" b="1"/>
            </a:lvl2pPr>
            <a:lvl3pPr marL="1076340" indent="0">
              <a:buNone/>
              <a:defRPr sz="2119" b="1"/>
            </a:lvl3pPr>
            <a:lvl4pPr marL="1614510" indent="0">
              <a:buNone/>
              <a:defRPr sz="1883" b="1"/>
            </a:lvl4pPr>
            <a:lvl5pPr marL="2152680" indent="0">
              <a:buNone/>
              <a:defRPr sz="1883" b="1"/>
            </a:lvl5pPr>
            <a:lvl6pPr marL="2690851" indent="0">
              <a:buNone/>
              <a:defRPr sz="1883" b="1"/>
            </a:lvl6pPr>
            <a:lvl7pPr marL="3229021" indent="0">
              <a:buNone/>
              <a:defRPr sz="1883" b="1"/>
            </a:lvl7pPr>
            <a:lvl8pPr marL="3767191" indent="0">
              <a:buNone/>
              <a:defRPr sz="1883" b="1"/>
            </a:lvl8pPr>
            <a:lvl9pPr marL="4305361" indent="0">
              <a:buNone/>
              <a:defRPr sz="188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896" y="4914470"/>
            <a:ext cx="4575783" cy="72284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54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98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46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896938"/>
            <a:ext cx="3471428" cy="3139281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5783" y="1937139"/>
            <a:ext cx="5448895" cy="9561105"/>
          </a:xfrm>
        </p:spPr>
        <p:txBody>
          <a:bodyPr/>
          <a:lstStyle>
            <a:lvl1pPr>
              <a:defRPr sz="3767"/>
            </a:lvl1pPr>
            <a:lvl2pPr>
              <a:defRPr sz="3296"/>
            </a:lvl2pPr>
            <a:lvl3pPr>
              <a:defRPr sz="2825"/>
            </a:lvl3pPr>
            <a:lvl4pPr>
              <a:defRPr sz="2354"/>
            </a:lvl4pPr>
            <a:lvl5pPr>
              <a:defRPr sz="2354"/>
            </a:lvl5pPr>
            <a:lvl6pPr>
              <a:defRPr sz="2354"/>
            </a:lvl6pPr>
            <a:lvl7pPr>
              <a:defRPr sz="2354"/>
            </a:lvl7pPr>
            <a:lvl8pPr>
              <a:defRPr sz="2354"/>
            </a:lvl8pPr>
            <a:lvl9pPr>
              <a:defRPr sz="23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375" y="4036219"/>
            <a:ext cx="3471428" cy="7477595"/>
          </a:xfrm>
        </p:spPr>
        <p:txBody>
          <a:bodyPr/>
          <a:lstStyle>
            <a:lvl1pPr marL="0" indent="0">
              <a:buNone/>
              <a:defRPr sz="1883"/>
            </a:lvl1pPr>
            <a:lvl2pPr marL="538170" indent="0">
              <a:buNone/>
              <a:defRPr sz="1648"/>
            </a:lvl2pPr>
            <a:lvl3pPr marL="1076340" indent="0">
              <a:buNone/>
              <a:defRPr sz="1413"/>
            </a:lvl3pPr>
            <a:lvl4pPr marL="1614510" indent="0">
              <a:buNone/>
              <a:defRPr sz="1177"/>
            </a:lvl4pPr>
            <a:lvl5pPr marL="2152680" indent="0">
              <a:buNone/>
              <a:defRPr sz="1177"/>
            </a:lvl5pPr>
            <a:lvl6pPr marL="2690851" indent="0">
              <a:buNone/>
              <a:defRPr sz="1177"/>
            </a:lvl6pPr>
            <a:lvl7pPr marL="3229021" indent="0">
              <a:buNone/>
              <a:defRPr sz="1177"/>
            </a:lvl7pPr>
            <a:lvl8pPr marL="3767191" indent="0">
              <a:buNone/>
              <a:defRPr sz="1177"/>
            </a:lvl8pPr>
            <a:lvl9pPr marL="4305361" indent="0">
              <a:buNone/>
              <a:defRPr sz="11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617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896938"/>
            <a:ext cx="3471428" cy="3139281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5783" y="1937139"/>
            <a:ext cx="5448895" cy="9561105"/>
          </a:xfrm>
        </p:spPr>
        <p:txBody>
          <a:bodyPr anchor="t"/>
          <a:lstStyle>
            <a:lvl1pPr marL="0" indent="0">
              <a:buNone/>
              <a:defRPr sz="3767"/>
            </a:lvl1pPr>
            <a:lvl2pPr marL="538170" indent="0">
              <a:buNone/>
              <a:defRPr sz="3296"/>
            </a:lvl2pPr>
            <a:lvl3pPr marL="1076340" indent="0">
              <a:buNone/>
              <a:defRPr sz="2825"/>
            </a:lvl3pPr>
            <a:lvl4pPr marL="1614510" indent="0">
              <a:buNone/>
              <a:defRPr sz="2354"/>
            </a:lvl4pPr>
            <a:lvl5pPr marL="2152680" indent="0">
              <a:buNone/>
              <a:defRPr sz="2354"/>
            </a:lvl5pPr>
            <a:lvl6pPr marL="2690851" indent="0">
              <a:buNone/>
              <a:defRPr sz="2354"/>
            </a:lvl6pPr>
            <a:lvl7pPr marL="3229021" indent="0">
              <a:buNone/>
              <a:defRPr sz="2354"/>
            </a:lvl7pPr>
            <a:lvl8pPr marL="3767191" indent="0">
              <a:buNone/>
              <a:defRPr sz="2354"/>
            </a:lvl8pPr>
            <a:lvl9pPr marL="4305361" indent="0">
              <a:buNone/>
              <a:defRPr sz="235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375" y="4036219"/>
            <a:ext cx="3471428" cy="7477595"/>
          </a:xfrm>
        </p:spPr>
        <p:txBody>
          <a:bodyPr/>
          <a:lstStyle>
            <a:lvl1pPr marL="0" indent="0">
              <a:buNone/>
              <a:defRPr sz="1883"/>
            </a:lvl1pPr>
            <a:lvl2pPr marL="538170" indent="0">
              <a:buNone/>
              <a:defRPr sz="1648"/>
            </a:lvl2pPr>
            <a:lvl3pPr marL="1076340" indent="0">
              <a:buNone/>
              <a:defRPr sz="1413"/>
            </a:lvl3pPr>
            <a:lvl4pPr marL="1614510" indent="0">
              <a:buNone/>
              <a:defRPr sz="1177"/>
            </a:lvl4pPr>
            <a:lvl5pPr marL="2152680" indent="0">
              <a:buNone/>
              <a:defRPr sz="1177"/>
            </a:lvl5pPr>
            <a:lvl6pPr marL="2690851" indent="0">
              <a:buNone/>
              <a:defRPr sz="1177"/>
            </a:lvl6pPr>
            <a:lvl7pPr marL="3229021" indent="0">
              <a:buNone/>
              <a:defRPr sz="1177"/>
            </a:lvl7pPr>
            <a:lvl8pPr marL="3767191" indent="0">
              <a:buNone/>
              <a:defRPr sz="1177"/>
            </a:lvl8pPr>
            <a:lvl9pPr marL="4305361" indent="0">
              <a:buNone/>
              <a:defRPr sz="11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38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78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02451" y="716304"/>
            <a:ext cx="2320826" cy="1140169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974" y="716304"/>
            <a:ext cx="6827937" cy="1140169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58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974" y="716307"/>
            <a:ext cx="9283303" cy="2600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974" y="3581522"/>
            <a:ext cx="9283303" cy="8536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974" y="12469926"/>
            <a:ext cx="2421731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5327" y="12469926"/>
            <a:ext cx="3632597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01545" y="12469926"/>
            <a:ext cx="2421731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7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76340" rtl="0" eaLnBrk="1" latinLnBrk="1" hangingPunct="1">
        <a:lnSpc>
          <a:spcPct val="90000"/>
        </a:lnSpc>
        <a:spcBef>
          <a:spcPct val="0"/>
        </a:spcBef>
        <a:buNone/>
        <a:defRPr sz="51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085" indent="-269085" algn="l" defTabSz="1076340" rtl="0" eaLnBrk="1" latinLnBrk="1" hangingPunct="1">
        <a:lnSpc>
          <a:spcPct val="90000"/>
        </a:lnSpc>
        <a:spcBef>
          <a:spcPts val="1177"/>
        </a:spcBef>
        <a:buFont typeface="Arial" panose="020B0604020202020204" pitchFamily="34" charset="0"/>
        <a:buChar char="•"/>
        <a:defRPr sz="3296" kern="1200">
          <a:solidFill>
            <a:schemeClr val="tx1"/>
          </a:solidFill>
          <a:latin typeface="+mn-lt"/>
          <a:ea typeface="+mn-ea"/>
          <a:cs typeface="+mn-cs"/>
        </a:defRPr>
      </a:lvl1pPr>
      <a:lvl2pPr marL="80725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825" kern="1200">
          <a:solidFill>
            <a:schemeClr val="tx1"/>
          </a:solidFill>
          <a:latin typeface="+mn-lt"/>
          <a:ea typeface="+mn-ea"/>
          <a:cs typeface="+mn-cs"/>
        </a:defRPr>
      </a:lvl2pPr>
      <a:lvl3pPr marL="134542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354" kern="1200">
          <a:solidFill>
            <a:schemeClr val="tx1"/>
          </a:solidFill>
          <a:latin typeface="+mn-lt"/>
          <a:ea typeface="+mn-ea"/>
          <a:cs typeface="+mn-cs"/>
        </a:defRPr>
      </a:lvl3pPr>
      <a:lvl4pPr marL="188359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42176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95993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49810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403627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57444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1pPr>
      <a:lvl2pPr marL="53817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2pPr>
      <a:lvl3pPr marL="107634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3pPr>
      <a:lvl4pPr marL="161451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15268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69085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22902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376719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30536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ioncactus/pretendard/releases/download/v1.3.9/Pretendard-1.3.9.zip" TargetMode="External"/><Relationship Id="rId2" Type="http://schemas.openxmlformats.org/officeDocument/2006/relationships/hyperlink" Target="https://hangeul.naver.com/hangeul_static/webfont/zips/nanum-square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hiteramen.tistory.com/6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EBF1EF-00F6-AF7B-23D5-0D26E65CD43C}"/>
              </a:ext>
            </a:extLst>
          </p:cNvPr>
          <p:cNvSpPr txBox="1">
            <a:spLocks/>
          </p:cNvSpPr>
          <p:nvPr/>
        </p:nvSpPr>
        <p:spPr>
          <a:xfrm>
            <a:off x="259107" y="2929747"/>
            <a:ext cx="46101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폰트 규격</a:t>
            </a:r>
            <a:r>
              <a:rPr lang="en-US" altLang="ko-KR" b="1" dirty="0">
                <a:latin typeface="+mn-ea"/>
              </a:rPr>
              <a:t>] –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임의 변경 엄금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커버 페이지 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dirty="0">
                <a:latin typeface="+mn-ea"/>
              </a:rPr>
              <a:t>제목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 err="1">
                <a:latin typeface="+mn-ea"/>
              </a:rPr>
              <a:t>나눔스퀘어</a:t>
            </a:r>
            <a:r>
              <a:rPr lang="en-US" altLang="ko-KR" dirty="0">
                <a:latin typeface="+mn-ea"/>
              </a:rPr>
              <a:t>_ac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Extrabold  66pt </a:t>
            </a:r>
          </a:p>
          <a:p>
            <a:r>
              <a:rPr lang="ko-KR" altLang="en-US" dirty="0">
                <a:latin typeface="+mn-ea"/>
              </a:rPr>
              <a:t>기사 카테고리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 err="1">
                <a:latin typeface="+mn-ea"/>
              </a:rPr>
              <a:t>나눔스퀘어</a:t>
            </a:r>
            <a:r>
              <a:rPr lang="en-US" altLang="ko-KR" dirty="0">
                <a:latin typeface="+mn-ea"/>
              </a:rPr>
              <a:t>_ac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Bold 24pt</a:t>
            </a:r>
          </a:p>
          <a:p>
            <a:r>
              <a:rPr lang="en-US" altLang="ko-KR" dirty="0">
                <a:latin typeface="+mn-ea"/>
                <a:hlinkClick r:id="rId2"/>
              </a:rPr>
              <a:t>[</a:t>
            </a:r>
            <a:r>
              <a:rPr lang="ko-KR" altLang="en-US" dirty="0">
                <a:latin typeface="+mn-ea"/>
                <a:hlinkClick r:id="rId2"/>
              </a:rPr>
              <a:t>폰트 다운로드</a:t>
            </a:r>
            <a:r>
              <a:rPr lang="en-US" altLang="ko-KR" dirty="0">
                <a:latin typeface="+mn-ea"/>
                <a:hlinkClick r:id="rId2"/>
              </a:rPr>
              <a:t>]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본문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제목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Pretendard</a:t>
            </a:r>
            <a:r>
              <a:rPr lang="en-US" altLang="ko-KR" dirty="0">
                <a:latin typeface="+mn-ea"/>
              </a:rPr>
              <a:t> Extrabold 40pt  #3B3838</a:t>
            </a:r>
          </a:p>
          <a:p>
            <a:r>
              <a:rPr lang="ko-KR" altLang="en-US" dirty="0">
                <a:latin typeface="+mn-ea"/>
              </a:rPr>
              <a:t>본문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Pretendard</a:t>
            </a:r>
            <a:r>
              <a:rPr lang="en-US" altLang="ko-KR" dirty="0">
                <a:latin typeface="+mn-ea"/>
              </a:rPr>
              <a:t> 32pt #3B3838</a:t>
            </a:r>
          </a:p>
          <a:p>
            <a:r>
              <a:rPr lang="ko-KR" altLang="en-US" dirty="0">
                <a:latin typeface="+mn-ea"/>
              </a:rPr>
              <a:t>사진출처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Pretendard</a:t>
            </a:r>
            <a:r>
              <a:rPr lang="en-US" altLang="ko-KR" dirty="0">
                <a:latin typeface="+mn-ea"/>
              </a:rPr>
              <a:t> Light 14pt #3B3838</a:t>
            </a:r>
          </a:p>
          <a:p>
            <a:r>
              <a:rPr lang="en-US" altLang="ko-KR" dirty="0">
                <a:latin typeface="+mn-ea"/>
                <a:hlinkClick r:id="rId3"/>
              </a:rPr>
              <a:t>[</a:t>
            </a:r>
            <a:r>
              <a:rPr lang="ko-KR" altLang="en-US" dirty="0">
                <a:latin typeface="+mn-ea"/>
                <a:hlinkClick r:id="rId3"/>
              </a:rPr>
              <a:t>폰트 다운로드</a:t>
            </a:r>
            <a:r>
              <a:rPr lang="en-US" altLang="ko-KR" dirty="0">
                <a:latin typeface="+mn-ea"/>
                <a:hlinkClick r:id="rId3"/>
              </a:rPr>
              <a:t>]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28155-9505-B21C-7AE1-D5F6B94B78C8}"/>
              </a:ext>
            </a:extLst>
          </p:cNvPr>
          <p:cNvSpPr txBox="1">
            <a:spLocks/>
          </p:cNvSpPr>
          <p:nvPr/>
        </p:nvSpPr>
        <p:spPr>
          <a:xfrm>
            <a:off x="259107" y="563201"/>
            <a:ext cx="63401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카드뉴스 템플릿 사용 규칙</a:t>
            </a:r>
            <a:r>
              <a:rPr lang="en-US" altLang="ko-KR" b="1" dirty="0">
                <a:latin typeface="+mn-ea"/>
              </a:rPr>
              <a:t>]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정해진 규격 준수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폰트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크기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배치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색 등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개인 컴퓨터 다운로드 받아서 사용</a:t>
            </a:r>
            <a:endParaRPr lang="en-US" altLang="ko-KR" b="1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기사별로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ppt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파일 따로 만들어서 </a:t>
            </a:r>
            <a:r>
              <a:rPr lang="ko-KR" altLang="en-US" dirty="0" err="1">
                <a:latin typeface="+mn-ea"/>
              </a:rPr>
              <a:t>기사폴더에</a:t>
            </a:r>
            <a:r>
              <a:rPr lang="ko-KR" altLang="en-US" dirty="0">
                <a:latin typeface="+mn-ea"/>
              </a:rPr>
              <a:t> 저장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4. </a:t>
            </a:r>
            <a:r>
              <a:rPr lang="ko-KR" altLang="en-US" dirty="0">
                <a:latin typeface="+mn-ea"/>
              </a:rPr>
              <a:t>발행팀이 </a:t>
            </a:r>
            <a:r>
              <a:rPr lang="en-US" altLang="ko-KR" dirty="0">
                <a:latin typeface="+mn-ea"/>
              </a:rPr>
              <a:t>ppt</a:t>
            </a:r>
            <a:r>
              <a:rPr lang="ko-KR" altLang="en-US" dirty="0">
                <a:latin typeface="+mn-ea"/>
              </a:rPr>
              <a:t>파일을 검토한 이후 </a:t>
            </a:r>
            <a:r>
              <a:rPr lang="en-US" altLang="ko-KR" dirty="0" err="1">
                <a:latin typeface="+mn-ea"/>
              </a:rPr>
              <a:t>png</a:t>
            </a:r>
            <a:r>
              <a:rPr lang="ko-KR" altLang="en-US" dirty="0">
                <a:latin typeface="+mn-ea"/>
              </a:rPr>
              <a:t>파일로 내보낸다</a:t>
            </a:r>
            <a:r>
              <a:rPr lang="en-US" altLang="ko-KR" dirty="0">
                <a:latin typeface="+mn-ea"/>
              </a:rPr>
              <a:t>.</a:t>
            </a:r>
          </a:p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발행팀은 </a:t>
            </a:r>
            <a:r>
              <a:rPr lang="en-US" altLang="ko-KR" dirty="0">
                <a:latin typeface="+mn-ea"/>
              </a:rPr>
              <a:t>PNG</a:t>
            </a:r>
            <a:r>
              <a:rPr lang="ko-KR" altLang="en-US" dirty="0">
                <a:latin typeface="+mn-ea"/>
              </a:rPr>
              <a:t>가 고화질로 저장되도록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옆 하이퍼링크의 지시를 따라 미리 설정해 둔다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  <a:hlinkClick r:id="rId4"/>
              </a:rPr>
              <a:t>[</a:t>
            </a:r>
            <a:r>
              <a:rPr lang="ko-KR" altLang="en-US" dirty="0">
                <a:latin typeface="+mn-ea"/>
                <a:hlinkClick r:id="rId4"/>
              </a:rPr>
              <a:t>설정 방법</a:t>
            </a:r>
            <a:r>
              <a:rPr lang="en-US" altLang="ko-KR" dirty="0">
                <a:latin typeface="+mn-ea"/>
                <a:hlinkClick r:id="rId4"/>
              </a:rPr>
              <a:t>]</a:t>
            </a:r>
            <a:endParaRPr lang="en-US" altLang="ko-KR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30D21-51D5-4D84-28F9-7E339A436D82}"/>
              </a:ext>
            </a:extLst>
          </p:cNvPr>
          <p:cNvSpPr txBox="1">
            <a:spLocks/>
          </p:cNvSpPr>
          <p:nvPr/>
        </p:nvSpPr>
        <p:spPr>
          <a:xfrm>
            <a:off x="259107" y="7014030"/>
            <a:ext cx="4864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커버 페이지 규격</a:t>
            </a:r>
            <a:r>
              <a:rPr lang="en-US" altLang="ko-KR" b="1" dirty="0">
                <a:latin typeface="+mn-ea"/>
              </a:rPr>
              <a:t>]</a:t>
            </a:r>
          </a:p>
          <a:p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제목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최대 </a:t>
            </a:r>
            <a:r>
              <a:rPr lang="en-US" altLang="ko-KR" b="1" u="sng" dirty="0">
                <a:latin typeface="+mn-ea"/>
              </a:rPr>
              <a:t>2</a:t>
            </a:r>
            <a:r>
              <a:rPr lang="ko-KR" altLang="en-US" b="1" u="sng" dirty="0">
                <a:latin typeface="+mn-ea"/>
              </a:rPr>
              <a:t>줄</a:t>
            </a:r>
            <a:r>
              <a:rPr lang="ko-KR" altLang="en-US" dirty="0">
                <a:latin typeface="+mn-ea"/>
              </a:rPr>
              <a:t> 허용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글자크기 가변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X</a:t>
            </a: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알아서 핵심 내용만 적을 것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따옴표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쉼표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하이픈 외 문장부호 금지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기사 카테고리</a:t>
            </a:r>
            <a:r>
              <a:rPr lang="en-US" altLang="ko-KR" dirty="0">
                <a:latin typeface="+mn-ea"/>
              </a:rPr>
              <a:t> or</a:t>
            </a:r>
            <a:r>
              <a:rPr lang="ko-KR" altLang="en-US" dirty="0">
                <a:latin typeface="+mn-ea"/>
              </a:rPr>
              <a:t> 시리즈명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제목 위 파란 박스에 기사 카테고리를 적거나 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시리즈명을 적는다</a:t>
            </a:r>
            <a:r>
              <a:rPr lang="en-US" altLang="ko-KR" dirty="0">
                <a:latin typeface="+mn-ea"/>
              </a:rPr>
              <a:t>. </a:t>
            </a:r>
          </a:p>
          <a:p>
            <a:r>
              <a:rPr lang="en-US" altLang="ko-KR" dirty="0">
                <a:latin typeface="+mn-ea"/>
              </a:rPr>
              <a:t>ex) </a:t>
            </a:r>
            <a:r>
              <a:rPr lang="ko-KR" altLang="en-US" dirty="0">
                <a:latin typeface="+mn-ea"/>
              </a:rPr>
              <a:t>사회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문화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사설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오늘은 무슨 날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3. </a:t>
            </a:r>
            <a:r>
              <a:rPr lang="ko-KR" altLang="en-US" dirty="0" err="1">
                <a:latin typeface="+mn-ea"/>
              </a:rPr>
              <a:t>그라데이션</a:t>
            </a:r>
            <a:endParaRPr lang="en-US" altLang="ko-KR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+mn-ea"/>
              </a:rPr>
              <a:t>사진이 너무 밝은 경우에만 사용</a:t>
            </a:r>
            <a:r>
              <a:rPr lang="en-US" altLang="ko-KR" dirty="0">
                <a:latin typeface="+mn-ea"/>
              </a:rPr>
              <a:t>. </a:t>
            </a:r>
          </a:p>
          <a:p>
            <a:r>
              <a:rPr lang="ko-KR" altLang="en-US" dirty="0">
                <a:latin typeface="+mn-ea"/>
              </a:rPr>
              <a:t>어두우면 사용 </a:t>
            </a:r>
            <a:r>
              <a:rPr lang="en-US" altLang="ko-KR" dirty="0">
                <a:latin typeface="+mn-ea"/>
              </a:rPr>
              <a:t>X</a:t>
            </a:r>
          </a:p>
          <a:p>
            <a:pPr marL="285750" indent="-285750">
              <a:buFontTx/>
              <a:buChar char="-"/>
            </a:pPr>
            <a:r>
              <a:rPr lang="ko-KR" altLang="en-US" dirty="0" err="1">
                <a:latin typeface="+mn-ea"/>
              </a:rPr>
              <a:t>그라데이션</a:t>
            </a:r>
            <a:r>
              <a:rPr lang="ko-KR" altLang="en-US" dirty="0">
                <a:latin typeface="+mn-ea"/>
              </a:rPr>
              <a:t> 상단 끝까지 하지 말기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사진 전체가 </a:t>
            </a:r>
            <a:r>
              <a:rPr lang="ko-KR" altLang="en-US" dirty="0" err="1">
                <a:latin typeface="+mn-ea"/>
              </a:rPr>
              <a:t>어두워짐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+mn-ea"/>
              </a:rPr>
              <a:t>진한 검정색이 하단으로부터 </a:t>
            </a:r>
            <a:r>
              <a:rPr lang="en-US" altLang="ko-KR" dirty="0">
                <a:latin typeface="+mn-ea"/>
              </a:rPr>
              <a:t>1/3</a:t>
            </a:r>
            <a:r>
              <a:rPr lang="ko-KR" altLang="en-US" dirty="0">
                <a:latin typeface="+mn-ea"/>
              </a:rPr>
              <a:t>을 넘지   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않도록</a:t>
            </a:r>
            <a:endParaRPr lang="en-US" altLang="ko-KR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ABEF8-F0D9-61F5-FF32-21609E30FE3D}"/>
              </a:ext>
            </a:extLst>
          </p:cNvPr>
          <p:cNvSpPr txBox="1"/>
          <p:nvPr/>
        </p:nvSpPr>
        <p:spPr>
          <a:xfrm>
            <a:off x="5123207" y="5180399"/>
            <a:ext cx="56765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본문 규격</a:t>
            </a:r>
            <a:r>
              <a:rPr lang="en-US" altLang="ko-KR" b="1" dirty="0">
                <a:latin typeface="+mn-ea"/>
              </a:rPr>
              <a:t>]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배경 색 </a:t>
            </a:r>
            <a:r>
              <a:rPr lang="en-US" altLang="ko-KR">
                <a:latin typeface="+mn-ea"/>
              </a:rPr>
              <a:t>#FFFBF7 </a:t>
            </a:r>
            <a:r>
              <a:rPr lang="ko-KR" altLang="en-US">
                <a:latin typeface="+mn-ea"/>
              </a:rPr>
              <a:t>슬라이드 우클릭 </a:t>
            </a:r>
            <a:r>
              <a:rPr lang="en-US" altLang="ko-KR">
                <a:latin typeface="+mn-ea"/>
              </a:rPr>
              <a:t>“</a:t>
            </a:r>
            <a:r>
              <a:rPr lang="ko-KR" altLang="en-US">
                <a:latin typeface="+mn-ea"/>
              </a:rPr>
              <a:t>복제</a:t>
            </a:r>
            <a:r>
              <a:rPr lang="en-US" altLang="ko-KR">
                <a:latin typeface="+mn-ea"/>
              </a:rPr>
              <a:t>”</a:t>
            </a:r>
            <a:endParaRPr lang="en-US" altLang="ko-KR" dirty="0">
              <a:latin typeface="+mn-ea"/>
            </a:endParaRPr>
          </a:p>
          <a:p>
            <a:r>
              <a:rPr lang="en-US" altLang="ko-KR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본문 마지막줄 </a:t>
            </a:r>
            <a:r>
              <a:rPr lang="ko-KR" altLang="en-US" dirty="0" err="1">
                <a:latin typeface="+mn-ea"/>
              </a:rPr>
              <a:t>디지스트</a:t>
            </a:r>
            <a:r>
              <a:rPr lang="ko-KR" altLang="en-US" dirty="0">
                <a:latin typeface="+mn-ea"/>
              </a:rPr>
              <a:t> 로고 넘지 않도록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3. </a:t>
            </a:r>
            <a:r>
              <a:rPr lang="ko-KR" altLang="en-US" dirty="0">
                <a:latin typeface="+mn-ea"/>
              </a:rPr>
              <a:t>강조 하고 싶은 부분 볼드처리 후 </a:t>
            </a:r>
            <a:r>
              <a:rPr lang="ko-KR" altLang="en-US" dirty="0" err="1">
                <a:latin typeface="+mn-ea"/>
              </a:rPr>
              <a:t>형광펜</a:t>
            </a:r>
            <a:r>
              <a:rPr lang="ko-KR" altLang="en-US" dirty="0">
                <a:latin typeface="+mn-ea"/>
              </a:rPr>
              <a:t> 박스</a:t>
            </a:r>
            <a:r>
              <a:rPr lang="en-US" altLang="ko-KR" dirty="0">
                <a:latin typeface="+mn-ea"/>
              </a:rPr>
              <a:t>. </a:t>
            </a:r>
          </a:p>
          <a:p>
            <a:r>
              <a:rPr lang="en-US" altLang="ko-KR" dirty="0">
                <a:latin typeface="+mn-ea"/>
              </a:rPr>
              <a:t>4. </a:t>
            </a:r>
            <a:r>
              <a:rPr lang="ko-KR" altLang="en-US" dirty="0">
                <a:latin typeface="+mn-ea"/>
              </a:rPr>
              <a:t>텍스트 박스를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정렬</a:t>
            </a:r>
            <a:r>
              <a:rPr lang="en-US" altLang="ko-KR" dirty="0">
                <a:latin typeface="+mn-ea"/>
              </a:rPr>
              <a:t>’ -&gt; </a:t>
            </a:r>
            <a:r>
              <a:rPr lang="ko-KR" altLang="en-US" dirty="0">
                <a:latin typeface="+mn-ea"/>
              </a:rPr>
              <a:t>맨 앞으로 가져오기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하여 </a:t>
            </a:r>
            <a:r>
              <a:rPr lang="ko-KR" altLang="en-US" dirty="0" err="1">
                <a:latin typeface="+mn-ea"/>
              </a:rPr>
              <a:t>형관펜</a:t>
            </a:r>
            <a:r>
              <a:rPr lang="ko-KR" altLang="en-US" dirty="0">
                <a:latin typeface="+mn-ea"/>
              </a:rPr>
              <a:t> 박스가 제일 뒤로 가게 한다</a:t>
            </a:r>
            <a:r>
              <a:rPr lang="en-US" altLang="ko-KR" dirty="0">
                <a:latin typeface="+mn-ea"/>
              </a:rPr>
              <a:t>. </a:t>
            </a:r>
          </a:p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문단 좀 더 잘게 나눠서 가독성 </a:t>
            </a:r>
            <a:r>
              <a:rPr lang="ko-KR" altLang="en-US" err="1">
                <a:latin typeface="+mn-ea"/>
              </a:rPr>
              <a:t>좋게하기</a:t>
            </a:r>
            <a:r>
              <a:rPr lang="en-US" altLang="ko-KR">
                <a:latin typeface="+mn-ea"/>
              </a:rPr>
              <a:t>.</a:t>
            </a:r>
          </a:p>
          <a:p>
            <a:r>
              <a:rPr lang="en-US" altLang="ko-KR">
                <a:latin typeface="+mn-ea"/>
              </a:rPr>
              <a:t>6. </a:t>
            </a:r>
            <a:r>
              <a:rPr lang="ko-KR" altLang="en-US">
                <a:latin typeface="+mn-ea"/>
              </a:rPr>
              <a:t>구성은 기자의 자율에 맡김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457A2-1323-E0B8-5EB9-6697FBA1ACC4}"/>
              </a:ext>
            </a:extLst>
          </p:cNvPr>
          <p:cNvSpPr txBox="1"/>
          <p:nvPr/>
        </p:nvSpPr>
        <p:spPr>
          <a:xfrm>
            <a:off x="5123207" y="7989997"/>
            <a:ext cx="56765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이미지 규격</a:t>
            </a:r>
            <a:r>
              <a:rPr lang="en-US" altLang="ko-KR" b="1" dirty="0">
                <a:latin typeface="+mn-ea"/>
              </a:rPr>
              <a:t>]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퍼온 사진의 경우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슬라이드의 예시와 같이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기사 캡션에 적힌 형식대로 출처를 적는다</a:t>
            </a:r>
            <a:r>
              <a:rPr lang="en-US" altLang="ko-KR" dirty="0">
                <a:latin typeface="+mn-ea"/>
              </a:rPr>
              <a:t>. </a:t>
            </a:r>
          </a:p>
          <a:p>
            <a:r>
              <a:rPr lang="en-US" altLang="ko-KR" dirty="0">
                <a:latin typeface="+mn-ea"/>
              </a:rPr>
              <a:t>ex) </a:t>
            </a:r>
            <a:r>
              <a:rPr lang="ko-KR" altLang="en-US" dirty="0">
                <a:latin typeface="+mn-ea"/>
              </a:rPr>
              <a:t>사진 </a:t>
            </a:r>
            <a:r>
              <a:rPr lang="en-US" altLang="ko-KR" dirty="0">
                <a:latin typeface="+mn-ea"/>
              </a:rPr>
              <a:t>= </a:t>
            </a:r>
            <a:r>
              <a:rPr lang="ko-KR" altLang="en-US" dirty="0">
                <a:latin typeface="+mn-ea"/>
              </a:rPr>
              <a:t>대한민국 국회 제공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기자가 직접 촬영한 사진의 경우 별도의 표기를 하지 않는다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워터마크도 넣지 않는다</a:t>
            </a:r>
            <a:r>
              <a:rPr lang="en-US" altLang="ko-KR" dirty="0">
                <a:latin typeface="+mn-ea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DBC9-C834-7CE7-45EB-BB05133AA572}"/>
              </a:ext>
            </a:extLst>
          </p:cNvPr>
          <p:cNvSpPr txBox="1"/>
          <p:nvPr/>
        </p:nvSpPr>
        <p:spPr>
          <a:xfrm>
            <a:off x="5123207" y="10258625"/>
            <a:ext cx="5676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</a:t>
            </a:r>
            <a:r>
              <a:rPr lang="ko-KR" altLang="en-US" b="1" dirty="0">
                <a:latin typeface="+mn-ea"/>
              </a:rPr>
              <a:t>마지막 장</a:t>
            </a:r>
            <a:r>
              <a:rPr lang="en-US" altLang="ko-KR" b="1" dirty="0">
                <a:latin typeface="+mn-ea"/>
              </a:rPr>
              <a:t>]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제시된 여러 장의 마지막 장 양식 중 하나를 선택한다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나머지 뒷장 양식 슬라이드는 지운다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061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EF50B-DF18-A048-E180-143B4204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검정 그라데이션">
            <a:extLst>
              <a:ext uri="{FF2B5EF4-FFF2-40B4-BE49-F238E27FC236}">
                <a16:creationId xmlns:a16="http://schemas.microsoft.com/office/drawing/2014/main" id="{AF2CD1E3-FF9F-B1D7-3E28-F8B46583419D}"/>
              </a:ext>
            </a:extLst>
          </p:cNvPr>
          <p:cNvSpPr/>
          <p:nvPr/>
        </p:nvSpPr>
        <p:spPr>
          <a:xfrm>
            <a:off x="-1" y="2908301"/>
            <a:ext cx="10763250" cy="10555275"/>
          </a:xfrm>
          <a:prstGeom prst="rect">
            <a:avLst/>
          </a:prstGeom>
          <a:gradFill>
            <a:gsLst>
              <a:gs pos="12000">
                <a:schemeClr val="tx1">
                  <a:alpha val="0"/>
                </a:schemeClr>
              </a:gs>
              <a:gs pos="100000">
                <a:srgbClr val="000000"/>
              </a:gs>
              <a:gs pos="70000">
                <a:schemeClr val="tx1">
                  <a:alpha val="6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">
            <a:extLst>
              <a:ext uri="{FF2B5EF4-FFF2-40B4-BE49-F238E27FC236}">
                <a16:creationId xmlns:a16="http://schemas.microsoft.com/office/drawing/2014/main" id="{F4CAF86D-D25F-5FFF-0B84-5674C0BCA8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9829353"/>
            <a:ext cx="9544048" cy="1160574"/>
          </a:xfrm>
          <a:prstGeom prst="rect">
            <a:avLst/>
          </a:prstGeom>
          <a:noFill/>
        </p:spPr>
        <p:txBody>
          <a:bodyPr wrap="square" lIns="143510" tIns="71755" rIns="143510" bIns="71755" rtlCol="0" anchor="t">
            <a:spAutoFit/>
          </a:bodyPr>
          <a:lstStyle/>
          <a:p>
            <a:pPr>
              <a:defRPr/>
            </a:pP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국회의원 된 썰 푼다 </a:t>
            </a:r>
            <a:endParaRPr lang="en-US" altLang="ko-KR" sz="6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B7EF599-FE0E-37FA-934D-97EA1472C7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0989927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2327C2-0CBE-EF47-C8E2-0D5787B501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11714163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328EBE-5CAF-FE8D-A4B7-B17E1D51067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38B6EF-8030-0432-A778-DC14209762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724237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3EFDA05-2353-ED01-56C3-761720D56E0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6C729BC-5ED4-87DE-10EC-581695190C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024" y="854819"/>
            <a:ext cx="1414916" cy="377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EE3A7EA-775A-EF9F-0917-76CDCACFFCF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B22FE88-80D9-B116-2BA7-9E0A0D7310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B8426BD-90E9-6852-299C-1A065E6A07B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F2514FE-1620-CBEF-EA02-CF8AC732AE86}"/>
              </a:ext>
            </a:extLst>
          </p:cNvPr>
          <p:cNvCxnSpPr/>
          <p:nvPr/>
        </p:nvCxnSpPr>
        <p:spPr>
          <a:xfrm>
            <a:off x="2374900" y="1028700"/>
            <a:ext cx="7778748" cy="0"/>
          </a:xfrm>
          <a:prstGeom prst="line">
            <a:avLst/>
          </a:prstGeom>
          <a:ln>
            <a:solidFill>
              <a:srgbClr val="FFFFFF">
                <a:alpha val="8392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41F32A-F65F-AF09-06EF-A56FD4B1B4A6}"/>
              </a:ext>
            </a:extLst>
          </p:cNvPr>
          <p:cNvSpPr txBox="1"/>
          <p:nvPr/>
        </p:nvSpPr>
        <p:spPr>
          <a:xfrm>
            <a:off x="772024" y="9252832"/>
            <a:ext cx="1332416" cy="492443"/>
          </a:xfrm>
          <a:prstGeom prst="rect">
            <a:avLst/>
          </a:prstGeom>
          <a:solidFill>
            <a:srgbClr val="15B1FF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ko-KR" altLang="en-US" sz="26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오피니언</a:t>
            </a:r>
          </a:p>
        </p:txBody>
      </p:sp>
    </p:spTree>
    <p:extLst>
      <p:ext uri="{BB962C8B-B14F-4D97-AF65-F5344CB8AC3E}">
        <p14:creationId xmlns:p14="http://schemas.microsoft.com/office/powerpoint/2010/main" val="256754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DD837-E366-1645-603E-9A58EBEE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검정 그라데이션">
            <a:extLst>
              <a:ext uri="{FF2B5EF4-FFF2-40B4-BE49-F238E27FC236}">
                <a16:creationId xmlns:a16="http://schemas.microsoft.com/office/drawing/2014/main" id="{5DFF35E9-27E6-CDED-FA23-3BA4A8EA066E}"/>
              </a:ext>
            </a:extLst>
          </p:cNvPr>
          <p:cNvSpPr/>
          <p:nvPr/>
        </p:nvSpPr>
        <p:spPr>
          <a:xfrm>
            <a:off x="-1" y="2908301"/>
            <a:ext cx="10763250" cy="10555275"/>
          </a:xfrm>
          <a:prstGeom prst="rect">
            <a:avLst/>
          </a:prstGeom>
          <a:gradFill>
            <a:gsLst>
              <a:gs pos="12000">
                <a:schemeClr val="tx1">
                  <a:alpha val="0"/>
                </a:schemeClr>
              </a:gs>
              <a:gs pos="100000">
                <a:srgbClr val="000000"/>
              </a:gs>
              <a:gs pos="70000">
                <a:schemeClr val="tx1">
                  <a:alpha val="6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">
            <a:extLst>
              <a:ext uri="{FF2B5EF4-FFF2-40B4-BE49-F238E27FC236}">
                <a16:creationId xmlns:a16="http://schemas.microsoft.com/office/drawing/2014/main" id="{13C65529-0F8B-A98F-1891-DE91D4EA2E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9829353"/>
            <a:ext cx="9544048" cy="2176237"/>
          </a:xfrm>
          <a:prstGeom prst="rect">
            <a:avLst/>
          </a:prstGeom>
          <a:noFill/>
        </p:spPr>
        <p:txBody>
          <a:bodyPr wrap="square" lIns="143510" tIns="71755" rIns="143510" bIns="71755" rtlCol="0" anchor="t">
            <a:spAutoFit/>
          </a:bodyPr>
          <a:lstStyle/>
          <a:p>
            <a:pPr>
              <a:defRPr/>
            </a:pP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왜 기숙사에서 전자레인지를</a:t>
            </a:r>
            <a:endParaRPr lang="en-US" altLang="ko-KR" sz="6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defRPr/>
            </a:pP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사용하면 안 되나요</a:t>
            </a:r>
            <a:r>
              <a:rPr lang="en-US" altLang="ko-KR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endParaRPr lang="en-US" altLang="ko-KR" sz="6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58546C6-0107-29F7-E43E-B002733288B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0989927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96AB42-0C89-0BD0-EC65-4BE0649FD9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11714163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101053C-7C80-C01F-E72F-03A733A12C9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0B2E82-BA0E-F8F8-FEA8-300FB8EC5A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724237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7302194-6552-3B0D-13BB-8BF88D91267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6091E59-0214-831E-A6A9-F3C9D1325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024" y="854819"/>
            <a:ext cx="1414916" cy="377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3DE3837-CD78-AB3B-4840-4555B3DB0CB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78C0209-628D-46FD-2F03-53D2633DAF2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089E45E-36F4-3E4C-4317-8406019F9F8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4584E06-AEF3-A58B-CE16-2C7F7335056A}"/>
              </a:ext>
            </a:extLst>
          </p:cNvPr>
          <p:cNvCxnSpPr/>
          <p:nvPr/>
        </p:nvCxnSpPr>
        <p:spPr>
          <a:xfrm>
            <a:off x="2374900" y="1028700"/>
            <a:ext cx="7778748" cy="0"/>
          </a:xfrm>
          <a:prstGeom prst="line">
            <a:avLst/>
          </a:prstGeom>
          <a:ln>
            <a:solidFill>
              <a:srgbClr val="FFFFFF">
                <a:alpha val="8392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0DAC3E-B118-12BE-B7E2-88DF085E80A6}"/>
              </a:ext>
            </a:extLst>
          </p:cNvPr>
          <p:cNvSpPr txBox="1"/>
          <p:nvPr/>
        </p:nvSpPr>
        <p:spPr>
          <a:xfrm>
            <a:off x="772024" y="9252832"/>
            <a:ext cx="1332416" cy="492443"/>
          </a:xfrm>
          <a:prstGeom prst="rect">
            <a:avLst/>
          </a:prstGeom>
          <a:solidFill>
            <a:srgbClr val="15B1FF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ko-KR" altLang="en-US" sz="26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오피니언</a:t>
            </a:r>
          </a:p>
        </p:txBody>
      </p:sp>
    </p:spTree>
    <p:extLst>
      <p:ext uri="{BB962C8B-B14F-4D97-AF65-F5344CB8AC3E}">
        <p14:creationId xmlns:p14="http://schemas.microsoft.com/office/powerpoint/2010/main" val="102876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3C327B-C014-2285-602B-A13B656FEA47}"/>
              </a:ext>
            </a:extLst>
          </p:cNvPr>
          <p:cNvSpPr/>
          <p:nvPr/>
        </p:nvSpPr>
        <p:spPr>
          <a:xfrm>
            <a:off x="0" y="1020476"/>
            <a:ext cx="5004263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ECA7C0-DFAC-EA36-1B67-D9D745FE7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79675" y="6623838"/>
            <a:ext cx="6403899" cy="4269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EFD8DF-5998-DA86-BFFA-048411B7553B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B592E-1AA6-CFE5-AADB-7A882A5142AF}"/>
              </a:ext>
            </a:extLst>
          </p:cNvPr>
          <p:cNvSpPr txBox="1"/>
          <p:nvPr/>
        </p:nvSpPr>
        <p:spPr>
          <a:xfrm>
            <a:off x="450396" y="512095"/>
            <a:ext cx="99726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사설</a:t>
            </a:r>
            <a:r>
              <a:rPr lang="en-US" altLang="ko-KR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</a:t>
            </a:r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이제 ‘진영 논리’ 아닌 ‘이념 </a:t>
            </a:r>
            <a:r>
              <a:rPr lang="ko-KR" altLang="en-US" sz="4000" dirty="0" err="1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논리’로</a:t>
            </a:r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싸우자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132CC4-77FC-1814-372E-40B5B98E9A7D}"/>
              </a:ext>
            </a:extLst>
          </p:cNvPr>
          <p:cNvSpPr/>
          <p:nvPr/>
        </p:nvSpPr>
        <p:spPr>
          <a:xfrm>
            <a:off x="5004263" y="4197787"/>
            <a:ext cx="2577637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B0F6CA-00A3-8BE2-DC0C-88925BA4ECB4}"/>
              </a:ext>
            </a:extLst>
          </p:cNvPr>
          <p:cNvSpPr/>
          <p:nvPr/>
        </p:nvSpPr>
        <p:spPr>
          <a:xfrm>
            <a:off x="2095500" y="4835962"/>
            <a:ext cx="4600575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41B482-978B-0080-9C2B-0516ED678D3A}"/>
              </a:ext>
            </a:extLst>
          </p:cNvPr>
          <p:cNvSpPr/>
          <p:nvPr/>
        </p:nvSpPr>
        <p:spPr>
          <a:xfrm>
            <a:off x="613238" y="5484148"/>
            <a:ext cx="2234737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017FC18-9483-435A-2DF9-A772B6D2C4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EFDBA2-3549-5191-1B74-400471281F41}"/>
              </a:ext>
            </a:extLst>
          </p:cNvPr>
          <p:cNvSpPr txBox="1"/>
          <p:nvPr/>
        </p:nvSpPr>
        <p:spPr>
          <a:xfrm>
            <a:off x="6559856" y="11077325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3B3838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 </a:t>
            </a:r>
            <a:r>
              <a:rPr lang="en-US" altLang="ko-KR" sz="1400" dirty="0">
                <a:solidFill>
                  <a:srgbClr val="3B3838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 </a:t>
            </a:r>
            <a:r>
              <a:rPr lang="ko-KR" altLang="en-US" sz="1400" dirty="0">
                <a:solidFill>
                  <a:srgbClr val="3B3838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대한민국 국회 제공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EEAFE-2A92-CA0A-8FEB-4ED256540E5E}"/>
              </a:ext>
            </a:extLst>
          </p:cNvPr>
          <p:cNvSpPr txBox="1"/>
          <p:nvPr/>
        </p:nvSpPr>
        <p:spPr>
          <a:xfrm>
            <a:off x="450396" y="3049396"/>
            <a:ext cx="9862458" cy="2592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헌정 질서 지켜낸 대한민국 </a:t>
            </a:r>
            <a:endParaRPr lang="en-US" altLang="ko-KR" sz="32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할 것은 몇 년간 고착된 ‘진영 정치’ 청산 </a:t>
            </a:r>
            <a:endParaRPr lang="en-US" altLang="ko-KR" sz="32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국민에게 ’협치’ 바탕으로 한 ‘이념’ 논리로 응답해야</a:t>
            </a:r>
            <a:r>
              <a:rPr lang="en-US" altLang="ko-KR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… </a:t>
            </a:r>
          </a:p>
          <a:p>
            <a:pPr>
              <a:lnSpc>
                <a:spcPct val="130000"/>
              </a:lnSpc>
            </a:pPr>
            <a:r>
              <a:rPr lang="en-US" altLang="ko-KR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생산적인 </a:t>
            </a:r>
            <a:r>
              <a:rPr lang="ko-KR" altLang="en-US" sz="32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싸움’으로</a:t>
            </a: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대의민주주의 본질 되살릴 때</a:t>
            </a:r>
            <a:endParaRPr lang="ko-KR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62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9ED6AEB-A646-46B0-B6C4-EF88165F9476}"/>
              </a:ext>
            </a:extLst>
          </p:cNvPr>
          <p:cNvSpPr/>
          <p:nvPr/>
        </p:nvSpPr>
        <p:spPr>
          <a:xfrm>
            <a:off x="2039471" y="11123867"/>
            <a:ext cx="6075829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A1DE36-EE55-854C-068E-709175880221}"/>
              </a:ext>
            </a:extLst>
          </p:cNvPr>
          <p:cNvSpPr/>
          <p:nvPr/>
        </p:nvSpPr>
        <p:spPr>
          <a:xfrm>
            <a:off x="499730" y="2231432"/>
            <a:ext cx="3802371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ㅡ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5004263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지난 몇 년</a:t>
            </a:r>
            <a:r>
              <a:rPr lang="en-US" altLang="ko-KR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우리 정치는 이상했다</a:t>
            </a:r>
            <a:r>
              <a:rPr lang="en-US" altLang="ko-KR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 sz="40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0" name="그림 9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대한민국이 혼란스럽다</a:t>
            </a:r>
            <a:r>
              <a:rPr lang="en-US" altLang="ko-KR" sz="3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 정치 지형이 언제부터 이렇게 혼란스러웠는지 모르겠다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‘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역대 최악의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비호감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선거’라고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불린 지난 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대선부터인지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‘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이조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심판’과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‘정권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심판’이라는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주장들 속 ‘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정책’이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아닌 ‘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심판’만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부각됐던 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22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 총선부터 인지 감조차 잡을 수 없다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어쩌면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제국주의 시대가 막을 내린 후 </a:t>
            </a:r>
            <a:r>
              <a:rPr lang="ko-KR" altLang="en-US" sz="3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몇십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년 만에 민주화와 산업화를 동시에 달성한 식민지 출신 유일무이 국가인 우리 대한민국이 지닌 숙명이자 종양일지도 모르겠다</a:t>
            </a:r>
            <a:r>
              <a:rPr lang="en-US" altLang="ko-KR" sz="3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지난 몇 년을 되돌아보면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 정치 사회에 대화와 </a:t>
            </a:r>
            <a:r>
              <a:rPr lang="ko-KR" alt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협치는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사라졌다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대통령은 소통을 거부하며 나아갔고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거대 야당도 이에 </a:t>
            </a:r>
            <a:r>
              <a:rPr lang="ko-KR" alt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질세라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줄탄핵과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함께 폭주했다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그렇게 마침내 지난해 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 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당시 대통령은 명백히 위헌적인 </a:t>
            </a:r>
            <a:r>
              <a:rPr lang="ko-KR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비상계엄을 선포해 이에 방점을 찍었다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35DDF-C2A8-9D33-C328-9535587D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FA292-972B-A204-2841-B14F4C98624D}"/>
              </a:ext>
            </a:extLst>
          </p:cNvPr>
          <p:cNvSpPr txBox="1"/>
          <p:nvPr/>
        </p:nvSpPr>
        <p:spPr>
          <a:xfrm>
            <a:off x="3711936" y="9657547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기사가 궁금하다면</a:t>
            </a:r>
            <a:r>
              <a:rPr lang="en-US" altLang="ko-KR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  <a:endParaRPr lang="ko-KR" altLang="en-US" sz="2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16DB6-0692-9451-AFCD-11F7EB57EC15}"/>
              </a:ext>
            </a:extLst>
          </p:cNvPr>
          <p:cNvSpPr txBox="1"/>
          <p:nvPr/>
        </p:nvSpPr>
        <p:spPr>
          <a:xfrm>
            <a:off x="3586902" y="10180767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https://dgistdna.com/</a:t>
            </a:r>
            <a:endParaRPr lang="ko-KR" altLang="en-US" sz="2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9" name="그림 8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DDEAFD-3C3B-31C1-CCC9-C4AA5BE19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426" y="12080046"/>
            <a:ext cx="1962398" cy="5232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D99A8A-73CA-8CA7-D400-B72FA54C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63250" cy="80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4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1591E-DE4A-6774-2F92-07A94989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ABAEFF-B156-C267-D7AC-6F64CDB301F7}"/>
              </a:ext>
            </a:extLst>
          </p:cNvPr>
          <p:cNvSpPr txBox="1"/>
          <p:nvPr/>
        </p:nvSpPr>
        <p:spPr>
          <a:xfrm>
            <a:off x="3711936" y="9657547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기사가 궁금하다면</a:t>
            </a:r>
            <a:r>
              <a:rPr lang="en-US" altLang="ko-KR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  <a:endParaRPr lang="ko-KR" altLang="en-US" sz="2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51ED0-66A9-1268-A5CE-EA1B6EE063A8}"/>
              </a:ext>
            </a:extLst>
          </p:cNvPr>
          <p:cNvSpPr txBox="1"/>
          <p:nvPr/>
        </p:nvSpPr>
        <p:spPr>
          <a:xfrm>
            <a:off x="3586902" y="10180767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https://dgistdna.com/</a:t>
            </a:r>
            <a:endParaRPr lang="ko-KR" altLang="en-US" sz="2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9" name="그림 8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AD5ED2-BCFB-AB00-6DE5-6AB93709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426" y="12080046"/>
            <a:ext cx="1962398" cy="5232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D504FF-4042-0960-7256-BEBC87495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407" y="4089722"/>
            <a:ext cx="3229905" cy="43091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51E045-D801-2A02-215E-B99A261FA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stelsSmooth/>
                    </a14:imgEffect>
                  </a14:imgLayer>
                </a14:imgProps>
              </a:ext>
            </a:extLst>
          </a:blip>
          <a:srcRect l="9835" b="10238"/>
          <a:stretch/>
        </p:blipFill>
        <p:spPr>
          <a:xfrm rot="21264403">
            <a:off x="3969041" y="2412012"/>
            <a:ext cx="3012759" cy="157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5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D17A4-8E26-75AC-CE8C-9249EF55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484C0C-1B8B-1191-CD95-A05B75213519}"/>
              </a:ext>
            </a:extLst>
          </p:cNvPr>
          <p:cNvSpPr txBox="1"/>
          <p:nvPr/>
        </p:nvSpPr>
        <p:spPr>
          <a:xfrm>
            <a:off x="3711936" y="9657547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기사가 궁금하다면</a:t>
            </a:r>
            <a:r>
              <a:rPr lang="en-US" altLang="ko-KR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  <a:endParaRPr lang="ko-KR" altLang="en-US" sz="2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FCEA8-EC49-CF97-3496-50F44167F9D0}"/>
              </a:ext>
            </a:extLst>
          </p:cNvPr>
          <p:cNvSpPr txBox="1"/>
          <p:nvPr/>
        </p:nvSpPr>
        <p:spPr>
          <a:xfrm>
            <a:off x="3586902" y="10180767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https://dgistdna.com/</a:t>
            </a:r>
            <a:endParaRPr lang="ko-KR" altLang="en-US" sz="2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9" name="그림 8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62B5A4-C571-4428-467D-59D35628E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426" y="12080046"/>
            <a:ext cx="1962398" cy="523220"/>
          </a:xfrm>
          <a:prstGeom prst="rect">
            <a:avLst/>
          </a:prstGeom>
        </p:spPr>
      </p:pic>
      <p:pic>
        <p:nvPicPr>
          <p:cNvPr id="5" name="그림 4" descr="클립아트, 일러스트레이션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C4E99C-D5A2-2C66-ED71-D4D10C191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1" t="27409" r="52583" b="25766"/>
          <a:stretch/>
        </p:blipFill>
        <p:spPr>
          <a:xfrm>
            <a:off x="3931440" y="4646598"/>
            <a:ext cx="2671762" cy="33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29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DD9D3-19C5-87ED-D1FD-BF617944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폰트, 텍스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758FCF-3A6B-47D3-112D-A0FC6FECD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426" y="12080046"/>
            <a:ext cx="1962398" cy="523220"/>
          </a:xfrm>
          <a:prstGeom prst="rect">
            <a:avLst/>
          </a:prstGeom>
        </p:spPr>
      </p:pic>
      <p:pic>
        <p:nvPicPr>
          <p:cNvPr id="3" name="그림 2" descr="만화 영화, 곰, 포유류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4B2331-9AF3-3979-B616-F339A8CF3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8" r="6551"/>
          <a:stretch/>
        </p:blipFill>
        <p:spPr>
          <a:xfrm>
            <a:off x="1" y="0"/>
            <a:ext cx="10763250" cy="806863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1A49090-9E21-FD9C-A90B-44C2FE9D0505}"/>
              </a:ext>
            </a:extLst>
          </p:cNvPr>
          <p:cNvSpPr/>
          <p:nvPr/>
        </p:nvSpPr>
        <p:spPr>
          <a:xfrm>
            <a:off x="5491559" y="6691313"/>
            <a:ext cx="432507" cy="214951"/>
          </a:xfrm>
          <a:prstGeom prst="rect">
            <a:avLst/>
          </a:prstGeom>
          <a:solidFill>
            <a:srgbClr val="E8E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508C7-823E-AF66-A52A-F77C6E06B759}"/>
              </a:ext>
            </a:extLst>
          </p:cNvPr>
          <p:cNvSpPr txBox="1"/>
          <p:nvPr/>
        </p:nvSpPr>
        <p:spPr>
          <a:xfrm>
            <a:off x="5426505" y="6629511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DNA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A1C15-ACD2-F14A-7068-12381648D9DD}"/>
              </a:ext>
            </a:extLst>
          </p:cNvPr>
          <p:cNvSpPr txBox="1"/>
          <p:nvPr/>
        </p:nvSpPr>
        <p:spPr>
          <a:xfrm>
            <a:off x="3711936" y="9657547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기사가 궁금하다면</a:t>
            </a:r>
            <a:r>
              <a:rPr lang="en-US" altLang="ko-KR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  <a:endParaRPr lang="ko-KR" altLang="en-US" sz="2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8D558-3471-3180-B7C4-D74373D2A6D3}"/>
              </a:ext>
            </a:extLst>
          </p:cNvPr>
          <p:cNvSpPr txBox="1"/>
          <p:nvPr/>
        </p:nvSpPr>
        <p:spPr>
          <a:xfrm>
            <a:off x="3586902" y="10180767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https://dgistdna.com/</a:t>
            </a:r>
            <a:endParaRPr lang="ko-KR" altLang="en-US" sz="2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6761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사용자 지정 3">
      <a:dk1>
        <a:sysClr val="windowText" lastClr="000000"/>
      </a:dk1>
      <a:lt1>
        <a:srgbClr val="FFFBF7"/>
      </a:lt1>
      <a:dk2>
        <a:srgbClr val="44546A"/>
      </a:dk2>
      <a:lt2>
        <a:srgbClr val="E7E6E6"/>
      </a:lt2>
      <a:accent1>
        <a:srgbClr val="F8B45D"/>
      </a:accent1>
      <a:accent2>
        <a:srgbClr val="7299DD"/>
      </a:accent2>
      <a:accent3>
        <a:srgbClr val="A21946"/>
      </a:accent3>
      <a:accent4>
        <a:srgbClr val="BA00FF"/>
      </a:accent4>
      <a:accent5>
        <a:srgbClr val="C5FF00"/>
      </a:accent5>
      <a:accent6>
        <a:srgbClr val="FF5100"/>
      </a:accent6>
      <a:hlink>
        <a:srgbClr val="0150FF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ce2a8b-558f-43c3-905a-a4a5a9301e31">
      <Terms xmlns="http://schemas.microsoft.com/office/infopath/2007/PartnerControls"/>
    </lcf76f155ced4ddcb4097134ff3c332f>
    <TaxCatchAll xmlns="1b0e1f06-4947-4592-b771-34f2fb6430a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70AF04901A4A64589128CD039FBBBA6" ma:contentTypeVersion="19" ma:contentTypeDescription="새 문서를 만듭니다." ma:contentTypeScope="" ma:versionID="63b809f1b263d08110f913873d23e3c6">
  <xsd:schema xmlns:xsd="http://www.w3.org/2001/XMLSchema" xmlns:xs="http://www.w3.org/2001/XMLSchema" xmlns:p="http://schemas.microsoft.com/office/2006/metadata/properties" xmlns:ns2="40ce2a8b-558f-43c3-905a-a4a5a9301e31" xmlns:ns3="1b0e1f06-4947-4592-b771-34f2fb6430a2" targetNamespace="http://schemas.microsoft.com/office/2006/metadata/properties" ma:root="true" ma:fieldsID="6b7aeff6863a3fcbccaf3e2f709cce1c" ns2:_="" ns3:_="">
    <xsd:import namespace="40ce2a8b-558f-43c3-905a-a4a5a9301e31"/>
    <xsd:import namespace="1b0e1f06-4947-4592-b771-34f2fb6430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ce2a8b-558f-43c3-905a-a4a5a9301e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eeffe2db-b124-4703-9eff-df6b4449aa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e1f06-4947-4592-b771-34f2fb6430a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d12bef0-0ddb-418a-96fd-7404d2414f2e}" ma:internalName="TaxCatchAll" ma:showField="CatchAllData" ma:web="1b0e1f06-4947-4592-b771-34f2fb6430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EC94D7-D30B-47BD-9CA3-99FA15A54917}">
  <ds:schemaRefs>
    <ds:schemaRef ds:uri="http://schemas.microsoft.com/office/2006/metadata/properties"/>
    <ds:schemaRef ds:uri="40ce2a8b-558f-43c3-905a-a4a5a9301e31"/>
    <ds:schemaRef ds:uri="http://purl.org/dc/terms/"/>
    <ds:schemaRef ds:uri="1b0e1f06-4947-4592-b771-34f2fb6430a2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AFFA01-8AB9-4C43-86D7-1382E4F944E9}"/>
</file>

<file path=customXml/itemProps3.xml><?xml version="1.0" encoding="utf-8"?>
<ds:datastoreItem xmlns:ds="http://schemas.openxmlformats.org/officeDocument/2006/customXml" ds:itemID="{A737C378-881A-440E-82C8-D247CD44CB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5810</TotalTime>
  <Words>592</Words>
  <Application>Microsoft Office PowerPoint</Application>
  <PresentationFormat>사용자 지정</PresentationFormat>
  <Paragraphs>86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김오민</dc:creator>
  <cp:lastModifiedBy>김신지</cp:lastModifiedBy>
  <cp:revision>19</cp:revision>
  <dcterms:created xsi:type="dcterms:W3CDTF">2023-01-29T08:36:42Z</dcterms:created>
  <dcterms:modified xsi:type="dcterms:W3CDTF">2025-07-26T11:50:50Z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0x010100070AF04901A4A64589128CD039FBBBA6</vt:lpwstr>
  </property>
  <property fmtid="{D5CDD505-2E9C-101B-9397-08002B2CF9AE}" pid="3" name="MediaServiceImageTags">
    <vt:lpwstr/>
  </property>
</Properties>
</file>