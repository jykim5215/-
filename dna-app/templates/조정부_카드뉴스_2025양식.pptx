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4"/>
  </p:sldMasterIdLst>
  <p:sldIdLst>
    <p:sldId id="306" r:id="rId7"/>
    <p:sldId id="287" r:id="rId9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02" r:id="rId10"/>
  </p:sldIdLst>
  <p:sldSz cx="10763250" cy="13454063"/>
  <p:notesSz cx="6858000" cy="9144000"/>
  <p:embeddedFontLst>
    <p:embeddedFont>
      <p:font typeface="Pretendard" panose="020B0604020202020204" charset="-127"/>
      <p:regular r:id="rId14"/>
      <p:bold r:id="rId15"/>
    </p:embeddedFont>
    <p:embeddedFont>
      <p:font typeface="Pretendard ExtraBold" panose="020B0604020202020204" charset="-127"/>
      <p:bold r:id="rId16"/>
    </p:embeddedFont>
    <p:embeddedFont>
      <p:font typeface="Pretendard Light" panose="020B0604020202020204" charset="-127"/>
      <p:regular r:id="rId17"/>
    </p:embeddedFont>
    <p:embeddedFont>
      <p:font typeface="Pretendard Medium" panose="020B0604020202020204" charset="-127"/>
      <p:regular r:id="rId18"/>
    </p:embeddedFont>
    <p:embeddedFont>
      <p:font typeface="나눔스퀘어_ac Bold" panose="020B0604020202020204" charset="-127"/>
      <p:bold r:id="rId19"/>
    </p:embeddedFont>
    <p:embeddedFont>
      <p:font typeface="나눔스퀘어_ac ExtraBold" panose="020B0604020202020204" charset="-127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5" userDrawn="1">
          <p15:clr>
            <a:srgbClr val="A4A3A4"/>
          </p15:clr>
        </p15:guide>
        <p15:guide id="2" pos="33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1FF"/>
    <a:srgbClr val="FFFFFF"/>
    <a:srgbClr val="FFFBF7"/>
    <a:srgbClr val="E8E0CE"/>
    <a:srgbClr val="FBFAEF"/>
    <a:srgbClr val="66CCFF"/>
    <a:srgbClr val="3B3838"/>
    <a:srgbClr val="33CCFF"/>
    <a:srgbClr val="FEF5E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96E45-65BA-4FA0-87E0-52FB6CAAB9DD}" v="12" dt="2025-04-27T15:28:06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084" autoAdjust="0"/>
  </p:normalViewPr>
  <p:slideViewPr>
    <p:cSldViewPr snapToGrid="0">
      <p:cViewPr varScale="1">
        <p:scale>
          <a:sx n="42" d="100"/>
          <a:sy n="42" d="100"/>
        </p:scale>
        <p:origin x="2630" y="67"/>
      </p:cViewPr>
      <p:guideLst>
        <p:guide orient="horz" pos="4215"/>
        <p:guide pos="33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24" Type="http://schemas.openxmlformats.org/officeDocument/2006/relationships/tableStyles" Target="tableStyles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viewProps" Target="viewProps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7244" y="2201858"/>
            <a:ext cx="9148763" cy="4684007"/>
          </a:xfrm>
        </p:spPr>
        <p:txBody>
          <a:bodyPr anchor="b"/>
          <a:lstStyle>
            <a:lvl1pPr algn="ctr">
              <a:defRPr sz="70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5406" y="7066499"/>
            <a:ext cx="8072438" cy="3248283"/>
          </a:xfrm>
        </p:spPr>
        <p:txBody>
          <a:bodyPr/>
          <a:lstStyle>
            <a:lvl1pPr marL="0" indent="0" algn="ctr">
              <a:buNone/>
              <a:defRPr sz="2825"/>
            </a:lvl1pPr>
            <a:lvl2pPr marL="538170" indent="0" algn="ctr">
              <a:buNone/>
              <a:defRPr sz="2354"/>
            </a:lvl2pPr>
            <a:lvl3pPr marL="1076340" indent="0" algn="ctr">
              <a:buNone/>
              <a:defRPr sz="2119"/>
            </a:lvl3pPr>
            <a:lvl4pPr marL="1614510" indent="0" algn="ctr">
              <a:buNone/>
              <a:defRPr sz="1883"/>
            </a:lvl4pPr>
            <a:lvl5pPr marL="2152680" indent="0" algn="ctr">
              <a:buNone/>
              <a:defRPr sz="1883"/>
            </a:lvl5pPr>
            <a:lvl6pPr marL="2690851" indent="0" algn="ctr">
              <a:buNone/>
              <a:defRPr sz="1883"/>
            </a:lvl6pPr>
            <a:lvl7pPr marL="3229021" indent="0" algn="ctr">
              <a:buNone/>
              <a:defRPr sz="1883"/>
            </a:lvl7pPr>
            <a:lvl8pPr marL="3767191" indent="0" algn="ctr">
              <a:buNone/>
              <a:defRPr sz="1883"/>
            </a:lvl8pPr>
            <a:lvl9pPr marL="4305361" indent="0" algn="ctr">
              <a:buNone/>
              <a:defRPr sz="188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9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68" y="3354176"/>
            <a:ext cx="9283303" cy="5596516"/>
          </a:xfrm>
        </p:spPr>
        <p:txBody>
          <a:bodyPr anchor="b"/>
          <a:lstStyle>
            <a:lvl1pPr>
              <a:defRPr sz="70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368" y="9003637"/>
            <a:ext cx="9283303" cy="2943075"/>
          </a:xfrm>
        </p:spPr>
        <p:txBody>
          <a:bodyPr/>
          <a:lstStyle>
            <a:lvl1pPr marL="0" indent="0">
              <a:buNone/>
              <a:defRPr sz="2825">
                <a:solidFill>
                  <a:schemeClr val="tx1"/>
                </a:solidFill>
              </a:defRPr>
            </a:lvl1pPr>
            <a:lvl2pPr marL="538170" indent="0">
              <a:buNone/>
              <a:defRPr sz="2354">
                <a:solidFill>
                  <a:schemeClr val="tx1">
                    <a:tint val="75000"/>
                  </a:schemeClr>
                </a:solidFill>
              </a:defRPr>
            </a:lvl2pPr>
            <a:lvl3pPr marL="1076340" indent="0">
              <a:buNone/>
              <a:defRPr sz="2119">
                <a:solidFill>
                  <a:schemeClr val="tx1">
                    <a:tint val="75000"/>
                  </a:schemeClr>
                </a:solidFill>
              </a:defRPr>
            </a:lvl3pPr>
            <a:lvl4pPr marL="1614510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4pPr>
            <a:lvl5pPr marL="2152680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5pPr>
            <a:lvl6pPr marL="269085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6pPr>
            <a:lvl7pPr marL="322902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7pPr>
            <a:lvl8pPr marL="376719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8pPr>
            <a:lvl9pPr marL="4305361" indent="0">
              <a:buNone/>
              <a:defRPr sz="18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74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974" y="3581522"/>
            <a:ext cx="4574381" cy="85364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895" y="3581522"/>
            <a:ext cx="4574381" cy="85364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99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716307"/>
            <a:ext cx="9283303" cy="260049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376" y="3298115"/>
            <a:ext cx="4553359" cy="1616355"/>
          </a:xfrm>
        </p:spPr>
        <p:txBody>
          <a:bodyPr anchor="b"/>
          <a:lstStyle>
            <a:lvl1pPr marL="0" indent="0">
              <a:buNone/>
              <a:defRPr sz="2825" b="1"/>
            </a:lvl1pPr>
            <a:lvl2pPr marL="538170" indent="0">
              <a:buNone/>
              <a:defRPr sz="2354" b="1"/>
            </a:lvl2pPr>
            <a:lvl3pPr marL="1076340" indent="0">
              <a:buNone/>
              <a:defRPr sz="2119" b="1"/>
            </a:lvl3pPr>
            <a:lvl4pPr marL="1614510" indent="0">
              <a:buNone/>
              <a:defRPr sz="1883" b="1"/>
            </a:lvl4pPr>
            <a:lvl5pPr marL="2152680" indent="0">
              <a:buNone/>
              <a:defRPr sz="1883" b="1"/>
            </a:lvl5pPr>
            <a:lvl6pPr marL="2690851" indent="0">
              <a:buNone/>
              <a:defRPr sz="1883" b="1"/>
            </a:lvl6pPr>
            <a:lvl7pPr marL="3229021" indent="0">
              <a:buNone/>
              <a:defRPr sz="1883" b="1"/>
            </a:lvl7pPr>
            <a:lvl8pPr marL="3767191" indent="0">
              <a:buNone/>
              <a:defRPr sz="1883" b="1"/>
            </a:lvl8pPr>
            <a:lvl9pPr marL="4305361" indent="0">
              <a:buNone/>
              <a:defRPr sz="188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376" y="4914470"/>
            <a:ext cx="4553359" cy="72284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896" y="3298115"/>
            <a:ext cx="4575783" cy="1616355"/>
          </a:xfrm>
        </p:spPr>
        <p:txBody>
          <a:bodyPr anchor="b"/>
          <a:lstStyle>
            <a:lvl1pPr marL="0" indent="0">
              <a:buNone/>
              <a:defRPr sz="2825" b="1"/>
            </a:lvl1pPr>
            <a:lvl2pPr marL="538170" indent="0">
              <a:buNone/>
              <a:defRPr sz="2354" b="1"/>
            </a:lvl2pPr>
            <a:lvl3pPr marL="1076340" indent="0">
              <a:buNone/>
              <a:defRPr sz="2119" b="1"/>
            </a:lvl3pPr>
            <a:lvl4pPr marL="1614510" indent="0">
              <a:buNone/>
              <a:defRPr sz="1883" b="1"/>
            </a:lvl4pPr>
            <a:lvl5pPr marL="2152680" indent="0">
              <a:buNone/>
              <a:defRPr sz="1883" b="1"/>
            </a:lvl5pPr>
            <a:lvl6pPr marL="2690851" indent="0">
              <a:buNone/>
              <a:defRPr sz="1883" b="1"/>
            </a:lvl6pPr>
            <a:lvl7pPr marL="3229021" indent="0">
              <a:buNone/>
              <a:defRPr sz="1883" b="1"/>
            </a:lvl7pPr>
            <a:lvl8pPr marL="3767191" indent="0">
              <a:buNone/>
              <a:defRPr sz="1883" b="1"/>
            </a:lvl8pPr>
            <a:lvl9pPr marL="4305361" indent="0">
              <a:buNone/>
              <a:defRPr sz="188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896" y="4914470"/>
            <a:ext cx="4575783" cy="72284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54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98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46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896938"/>
            <a:ext cx="3471428" cy="3139281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5783" y="1937139"/>
            <a:ext cx="5448895" cy="9561105"/>
          </a:xfrm>
        </p:spPr>
        <p:txBody>
          <a:bodyPr/>
          <a:lstStyle>
            <a:lvl1pPr>
              <a:defRPr sz="3767"/>
            </a:lvl1pPr>
            <a:lvl2pPr>
              <a:defRPr sz="3296"/>
            </a:lvl2pPr>
            <a:lvl3pPr>
              <a:defRPr sz="2825"/>
            </a:lvl3pPr>
            <a:lvl4pPr>
              <a:defRPr sz="2354"/>
            </a:lvl4pPr>
            <a:lvl5pPr>
              <a:defRPr sz="2354"/>
            </a:lvl5pPr>
            <a:lvl6pPr>
              <a:defRPr sz="2354"/>
            </a:lvl6pPr>
            <a:lvl7pPr>
              <a:defRPr sz="2354"/>
            </a:lvl7pPr>
            <a:lvl8pPr>
              <a:defRPr sz="2354"/>
            </a:lvl8pPr>
            <a:lvl9pPr>
              <a:defRPr sz="23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375" y="4036219"/>
            <a:ext cx="3471428" cy="7477595"/>
          </a:xfrm>
        </p:spPr>
        <p:txBody>
          <a:bodyPr/>
          <a:lstStyle>
            <a:lvl1pPr marL="0" indent="0">
              <a:buNone/>
              <a:defRPr sz="1883"/>
            </a:lvl1pPr>
            <a:lvl2pPr marL="538170" indent="0">
              <a:buNone/>
              <a:defRPr sz="1648"/>
            </a:lvl2pPr>
            <a:lvl3pPr marL="1076340" indent="0">
              <a:buNone/>
              <a:defRPr sz="1413"/>
            </a:lvl3pPr>
            <a:lvl4pPr marL="1614510" indent="0">
              <a:buNone/>
              <a:defRPr sz="1177"/>
            </a:lvl4pPr>
            <a:lvl5pPr marL="2152680" indent="0">
              <a:buNone/>
              <a:defRPr sz="1177"/>
            </a:lvl5pPr>
            <a:lvl6pPr marL="2690851" indent="0">
              <a:buNone/>
              <a:defRPr sz="1177"/>
            </a:lvl6pPr>
            <a:lvl7pPr marL="3229021" indent="0">
              <a:buNone/>
              <a:defRPr sz="1177"/>
            </a:lvl7pPr>
            <a:lvl8pPr marL="3767191" indent="0">
              <a:buNone/>
              <a:defRPr sz="1177"/>
            </a:lvl8pPr>
            <a:lvl9pPr marL="4305361" indent="0">
              <a:buNone/>
              <a:defRPr sz="11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617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375" y="896938"/>
            <a:ext cx="3471428" cy="3139281"/>
          </a:xfrm>
        </p:spPr>
        <p:txBody>
          <a:bodyPr anchor="b"/>
          <a:lstStyle>
            <a:lvl1pPr>
              <a:defRPr sz="37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5783" y="1937139"/>
            <a:ext cx="5448895" cy="9561105"/>
          </a:xfrm>
        </p:spPr>
        <p:txBody>
          <a:bodyPr anchor="t"/>
          <a:lstStyle>
            <a:lvl1pPr marL="0" indent="0">
              <a:buNone/>
              <a:defRPr sz="3767"/>
            </a:lvl1pPr>
            <a:lvl2pPr marL="538170" indent="0">
              <a:buNone/>
              <a:defRPr sz="3296"/>
            </a:lvl2pPr>
            <a:lvl3pPr marL="1076340" indent="0">
              <a:buNone/>
              <a:defRPr sz="2825"/>
            </a:lvl3pPr>
            <a:lvl4pPr marL="1614510" indent="0">
              <a:buNone/>
              <a:defRPr sz="2354"/>
            </a:lvl4pPr>
            <a:lvl5pPr marL="2152680" indent="0">
              <a:buNone/>
              <a:defRPr sz="2354"/>
            </a:lvl5pPr>
            <a:lvl6pPr marL="2690851" indent="0">
              <a:buNone/>
              <a:defRPr sz="2354"/>
            </a:lvl6pPr>
            <a:lvl7pPr marL="3229021" indent="0">
              <a:buNone/>
              <a:defRPr sz="2354"/>
            </a:lvl7pPr>
            <a:lvl8pPr marL="3767191" indent="0">
              <a:buNone/>
              <a:defRPr sz="2354"/>
            </a:lvl8pPr>
            <a:lvl9pPr marL="4305361" indent="0">
              <a:buNone/>
              <a:defRPr sz="235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375" y="4036219"/>
            <a:ext cx="3471428" cy="7477595"/>
          </a:xfrm>
        </p:spPr>
        <p:txBody>
          <a:bodyPr/>
          <a:lstStyle>
            <a:lvl1pPr marL="0" indent="0">
              <a:buNone/>
              <a:defRPr sz="1883"/>
            </a:lvl1pPr>
            <a:lvl2pPr marL="538170" indent="0">
              <a:buNone/>
              <a:defRPr sz="1648"/>
            </a:lvl2pPr>
            <a:lvl3pPr marL="1076340" indent="0">
              <a:buNone/>
              <a:defRPr sz="1413"/>
            </a:lvl3pPr>
            <a:lvl4pPr marL="1614510" indent="0">
              <a:buNone/>
              <a:defRPr sz="1177"/>
            </a:lvl4pPr>
            <a:lvl5pPr marL="2152680" indent="0">
              <a:buNone/>
              <a:defRPr sz="1177"/>
            </a:lvl5pPr>
            <a:lvl6pPr marL="2690851" indent="0">
              <a:buNone/>
              <a:defRPr sz="1177"/>
            </a:lvl6pPr>
            <a:lvl7pPr marL="3229021" indent="0">
              <a:buNone/>
              <a:defRPr sz="1177"/>
            </a:lvl7pPr>
            <a:lvl8pPr marL="3767191" indent="0">
              <a:buNone/>
              <a:defRPr sz="1177"/>
            </a:lvl8pPr>
            <a:lvl9pPr marL="4305361" indent="0">
              <a:buNone/>
              <a:defRPr sz="11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38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78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02451" y="716304"/>
            <a:ext cx="2320826" cy="1140169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974" y="716304"/>
            <a:ext cx="6827937" cy="1140169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58816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974" y="716307"/>
            <a:ext cx="9283303" cy="2600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974" y="3581522"/>
            <a:ext cx="9283303" cy="8536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974" y="12469926"/>
            <a:ext cx="2421731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C382-CE7B-4780-A7D8-6EB164221DB5}" type="datetimeFigureOut">
              <a:rPr lang="ko-KR" altLang="en-US" smtClean="0"/>
              <a:t>2025-07-26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5327" y="12469926"/>
            <a:ext cx="3632597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01545" y="12469926"/>
            <a:ext cx="2421731" cy="7163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7319D-8EF5-430D-A1D4-6D67FBE78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7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76340" rtl="0" eaLnBrk="1" latinLnBrk="1" hangingPunct="1">
        <a:lnSpc>
          <a:spcPct val="90000"/>
        </a:lnSpc>
        <a:spcBef>
          <a:spcPct val="0"/>
        </a:spcBef>
        <a:buNone/>
        <a:defRPr sz="51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085" indent="-269085" algn="l" defTabSz="1076340" rtl="0" eaLnBrk="1" latinLnBrk="1" hangingPunct="1">
        <a:lnSpc>
          <a:spcPct val="90000"/>
        </a:lnSpc>
        <a:spcBef>
          <a:spcPts val="1177"/>
        </a:spcBef>
        <a:buFont typeface="Arial" panose="020B0604020202020204" pitchFamily="34" charset="0"/>
        <a:buChar char="•"/>
        <a:defRPr sz="3296" kern="1200">
          <a:solidFill>
            <a:schemeClr val="tx1"/>
          </a:solidFill>
          <a:latin typeface="+mn-lt"/>
          <a:ea typeface="+mn-ea"/>
          <a:cs typeface="+mn-cs"/>
        </a:defRPr>
      </a:lvl1pPr>
      <a:lvl2pPr marL="80725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825" kern="1200">
          <a:solidFill>
            <a:schemeClr val="tx1"/>
          </a:solidFill>
          <a:latin typeface="+mn-lt"/>
          <a:ea typeface="+mn-ea"/>
          <a:cs typeface="+mn-cs"/>
        </a:defRPr>
      </a:lvl2pPr>
      <a:lvl3pPr marL="134542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354" kern="1200">
          <a:solidFill>
            <a:schemeClr val="tx1"/>
          </a:solidFill>
          <a:latin typeface="+mn-lt"/>
          <a:ea typeface="+mn-ea"/>
          <a:cs typeface="+mn-cs"/>
        </a:defRPr>
      </a:lvl3pPr>
      <a:lvl4pPr marL="1883595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42176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95993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49810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403627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574446" indent="-269085" algn="l" defTabSz="1076340" rtl="0" eaLnBrk="1" latinLnBrk="1" hangingPunct="1">
        <a:lnSpc>
          <a:spcPct val="90000"/>
        </a:lnSpc>
        <a:spcBef>
          <a:spcPts val="589"/>
        </a:spcBef>
        <a:buFont typeface="Arial" panose="020B0604020202020204" pitchFamily="34" charset="0"/>
        <a:buChar char="•"/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1pPr>
      <a:lvl2pPr marL="53817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2pPr>
      <a:lvl3pPr marL="107634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3pPr>
      <a:lvl4pPr marL="161451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4pPr>
      <a:lvl5pPr marL="2152680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5pPr>
      <a:lvl6pPr marL="269085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6pPr>
      <a:lvl7pPr marL="322902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7pPr>
      <a:lvl8pPr marL="376719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8pPr>
      <a:lvl9pPr marL="4305361" algn="l" defTabSz="1076340" rtl="0" eaLnBrk="1" latinLnBrk="1" hangingPunct="1">
        <a:defRPr sz="21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3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DD837-E366-1645-603E-9A58EBEE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검정 그라데이션">
            <a:extLst>
              <a:ext uri="{FF2B5EF4-FFF2-40B4-BE49-F238E27FC236}">
                <a16:creationId xmlns:a16="http://schemas.microsoft.com/office/drawing/2014/main" id="{5DFF35E9-27E6-CDED-FA23-3BA4A8EA066E}"/>
              </a:ext>
            </a:extLst>
          </p:cNvPr>
          <p:cNvSpPr/>
          <p:nvPr/>
        </p:nvSpPr>
        <p:spPr>
          <a:xfrm>
            <a:off x="-1" y="2908301"/>
            <a:ext cx="10763250" cy="10555275"/>
          </a:xfrm>
          <a:prstGeom prst="rect">
            <a:avLst/>
          </a:prstGeom>
          <a:gradFill>
            <a:gsLst>
              <a:gs pos="12000">
                <a:schemeClr val="tx1">
                  <a:alpha val="0"/>
                </a:schemeClr>
              </a:gs>
              <a:gs pos="100000">
                <a:srgbClr val="000000"/>
              </a:gs>
              <a:gs pos="70000">
                <a:schemeClr val="tx1">
                  <a:alpha val="62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">
            <a:extLst>
              <a:ext uri="{FF2B5EF4-FFF2-40B4-BE49-F238E27FC236}">
                <a16:creationId xmlns:a16="http://schemas.microsoft.com/office/drawing/2014/main" id="{13C65529-0F8B-A98F-1891-DE91D4EA2E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9829353"/>
            <a:ext cx="9544048" cy="2176237"/>
          </a:xfrm>
          <a:prstGeom prst="rect">
            <a:avLst/>
          </a:prstGeom>
          <a:noFill/>
        </p:spPr>
        <p:txBody>
          <a:bodyPr wrap="square" lIns="143510" tIns="71755" rIns="143510" bIns="71755" rtlCol="0" anchor="t">
            <a:spAutoFit/>
          </a:bodyPr>
          <a:lstStyle/>
          <a:p>
            <a:pPr>
              <a:defRPr/>
            </a:pP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침체기 딛고 다시 노를 젓다</a:t>
            </a:r>
            <a:endParaRPr lang="en-US" altLang="ko-KR" sz="6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>
              <a:defRPr/>
            </a:pP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조정부, ‘기타 학생단체’ 승격</a:t>
            </a:r>
            <a:r>
              <a:rPr lang="en-US" altLang="ko-KR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 xml:space="preserve"> </a:t>
            </a:r>
            <a:r>
              <a:rPr lang="ko-KR" altLang="en-US" sz="6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 xml:space="preserve"> </a:t>
            </a:r>
            <a:endParaRPr lang="en-US" altLang="ko-KR" sz="6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58546C6-0107-29F7-E43E-B002733288B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0989927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96AB42-0C89-0BD0-EC65-4BE0649FD9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11714163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101053C-7C80-C01F-E72F-03A733A12C9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-215153" y="1"/>
            <a:ext cx="0" cy="2464136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0B2E82-BA0E-F8F8-FEA8-300FB8EC5A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171769" y="724237"/>
            <a:ext cx="15087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여백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7302194-6552-3B0D-13BB-8BF88D91267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6091E59-0214-831E-A6A9-F3C9D1325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024" y="854819"/>
            <a:ext cx="1414916" cy="377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3DE3837-CD78-AB3B-4840-4555B3DB0CB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-19363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78C0209-628D-46FD-2F03-53D2633DAF2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-2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089E45E-36F4-3E4C-4317-8406019F9F8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153648" y="13738265"/>
            <a:ext cx="609602" cy="0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4584E06-AEF3-A58B-CE16-2C7F7335056A}"/>
              </a:ext>
            </a:extLst>
          </p:cNvPr>
          <p:cNvCxnSpPr/>
          <p:nvPr/>
        </p:nvCxnSpPr>
        <p:spPr>
          <a:xfrm>
            <a:off x="2374900" y="1028700"/>
            <a:ext cx="7778748" cy="0"/>
          </a:xfrm>
          <a:prstGeom prst="line">
            <a:avLst/>
          </a:prstGeom>
          <a:ln>
            <a:solidFill>
              <a:srgbClr val="FFFFFF">
                <a:alpha val="8392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0DAC3E-B118-12BE-B7E2-88DF085E80A6}"/>
              </a:ext>
            </a:extLst>
          </p:cNvPr>
          <p:cNvSpPr txBox="1"/>
          <p:nvPr/>
        </p:nvSpPr>
        <p:spPr>
          <a:xfrm>
            <a:off x="772024" y="9252832"/>
            <a:ext cx="1332416" cy="492443"/>
          </a:xfrm>
          <a:prstGeom prst="rect">
            <a:avLst/>
          </a:prstGeom>
          <a:solidFill>
            <a:srgbClr val="15B1FF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ko-KR" altLang="en-US" sz="26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사회</a:t>
            </a:r>
          </a:p>
        </p:txBody>
      </p:sp>
    </p:spTree>
    <p:extLst>
      <p:ext uri="{BB962C8B-B14F-4D97-AF65-F5344CB8AC3E}">
        <p14:creationId xmlns:p14="http://schemas.microsoft.com/office/powerpoint/2010/main" val="102876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형광펜"/>
          <p:cNvSpPr/>
          <p:nvPr/>
        </p:nvSpPr>
        <p:spPr>
          <a:xfrm>
            <a:off x="541836" y="2759752"/>
            <a:ext cx="5350000" cy="108000"/>
          </a:xfrm>
          <a:prstGeom prst="rect">
            <a:avLst/>
          </a:prstGeom>
          <a:solidFill>
            <a:srgbClr val="FFFF00">
              <a:alpha val="41176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1" name="조정부 사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5900000"/>
            <a:ext cx="7315200" cy="548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51318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5959536" y="1144000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 = DGIST 조정부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다시 노를 젓는 조정부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DGIST 조정부가 2026년,</a:t>
            </a:r>
            <a:br>
              <a:rPr lang="ko-KR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‘기타 학생단체’로 승격되었다.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코로나로 한때 활동이 중단되었던 조정부는 대회 복귀와 운영 재정비를 거쳐 다시 본원을 대표하는 단체로 자리매김했다.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35DDF-C2A8-9D33-C328-9535587D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FA292-972B-A204-2841-B14F4C98624D}"/>
              </a:ext>
            </a:extLst>
          </p:cNvPr>
          <p:cNvSpPr txBox="1"/>
          <p:nvPr/>
        </p:nvSpPr>
        <p:spPr>
          <a:xfrm>
            <a:off x="3711936" y="9657547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기사가 궁금하다면</a:t>
            </a:r>
            <a:r>
              <a:rPr lang="en-US" altLang="ko-KR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  <a:endParaRPr lang="ko-KR" altLang="en-US" sz="2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16DB6-0692-9451-AFCD-11F7EB57EC15}"/>
              </a:ext>
            </a:extLst>
          </p:cNvPr>
          <p:cNvSpPr txBox="1"/>
          <p:nvPr/>
        </p:nvSpPr>
        <p:spPr>
          <a:xfrm>
            <a:off x="3586902" y="10180767"/>
            <a:ext cx="3589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https://dgistdna.com/</a:t>
            </a:r>
            <a:endParaRPr lang="ko-KR" altLang="en-US" sz="28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9" name="그림 8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36DDEAFD-3C3B-31C1-CCC9-C4AA5BE19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426" y="12080046"/>
            <a:ext cx="1962398" cy="5232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D99A8A-73CA-8CA7-D400-B72FA54C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63250" cy="80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4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4029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기타 학생단체란?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기타 학생단체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는 일반 동아리와 달리 본원의 특정 부서가 공식 업무 수행을 위해 직접 조직·관리하는 행정 연계 단체다. 창업동아리와 DISA 등이 이에 해당한다.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본원은 ▲오랜 기간 DGIST를 대표해 온 대외 활동 ▲장비와 시설 유지에 많은 비용이 필요한 종목 특성 ▲훈련장과 경기정 등 본원 자산의 체계적 관리 필요성을 승격 사유로 설명했다.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이번 승격은 단순한 명칭 변경이 아니라 </a:t>
            </a: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조정부의 재건 과정과 학교 대표 단체로서의 역할을 공식적으로 인정받았다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는 점에서 의미를 갖는다.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317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Q1. 자기소개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간단한 자기소개와 현재 맡고 있는 역할 소개 부탁드립니다.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박성현 부장(이하 박):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2026년도 DGIST 조정부 부장을 맡고 있는 25학번 박성현입니다. 조정부의 운영과 훈련, 대회 준비를 총괄하고 있습니다.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김서현 차장(이하 김):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2026년도 조정부 차장을 맡고 있는 23학번 김서현입니다. 부원들이 원활하게 활동할 수 있도록 돕고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380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Q2. 승격의 의미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이번 ‘기타 학생단체’ 승격은 조정부에 어떤 의미가 있나요?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단순한 명칭 변경이 아니라, 조정부가 다시 안정적으로 활동하고 대회에 도전할 수 있는 기반을 마련한 일입니다. 동시에 더 책임감 있게 학교의 명예를 높여 나가야 한다는 의미이기도 합니다.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본원을 대표하는 단체로서의 잠재력을 인정받은 결과라고 생각합니다. 부원들 역시 기대에 부응하기 위해 더욱 책임감을 갖고 훈련에 매진하고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470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Q3. 침체기의 어려움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침체기 동안 가장 크게 느꼈던 어려움은 무엇이었나요?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활동을 다시 시작하는 데 필요한 자원적 기반이 부족했습니다. 결국 인원과 예산, 운영 체계를 동시에 회복해야 한다는 점이 가장 큰 어려움이었습니다.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코로나로 주요 대회가 연이어 취소되었고, 주축으로 활동하시던 선배님들의 졸업 시기까지 겹치면서 명맥을 유지하는 데 어려움이 컸습니다.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380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Q4. 극복의 계기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침체기를 극복하는 과정에서 가장 중요했던 계기는 무엇이었나요?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조정부를 다시 지속 가능한 팀으로 만들겠다는 선배 부원들의 의지였습니다. 대회 참가처럼 구체적인 목표를 세운 것이 팀의 결속력으로 이어졌습니다.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어려운 시기에도 조정부에 대한 애정을 놓지 않으셨던 선배님과 담당 선생님의 헌신이 가장 결정적이었습니다.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425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Q5. 앞으로의 방향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앞으로 조정부를 어떤 방향으로 발전시켜 나가고 싶으신가요?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‘처음 시작하는 사람도 함께 성장할 수 있는 팀’으로 이끌고 싶습니다. 협동과 책임감을 중심으로 팀 문화를 다지려 합니다.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단기적으로는 오는 7월 전국 대학 조정 대회에서 좋은 성과를 거두는 것이 목표입니다. UNIST, 해군사관학교 조정부와의 교류와 합동 훈련으로 실력을 키워 나갈 계획입니다.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47043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Q6. 예비 부원들에게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조정부 지원에 관심이 있는 학생들에게 한마디 부탁드립니다.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박: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조정부는 지금 다시 출발선에 서 있습니다. 중요한 것은 경험보다 꾸준히 참여하려는 마음과 함께 움직이려는 태도입니다.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김: 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뜻이 맞는 동료들과 함께 땀 흘리며 열정을 쏟고 싶다면, 조정부가 가장 든든하고 의미 있는 보금자리가 되어 줄 것입니다.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0C4-CE56-74A8-CB41-2A281CC1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82B3800-C8EB-B5FF-99A9-1CFE2A8D73FC}"/>
              </a:ext>
            </a:extLst>
          </p:cNvPr>
          <p:cNvSpPr/>
          <p:nvPr/>
        </p:nvSpPr>
        <p:spPr>
          <a:xfrm>
            <a:off x="0" y="1020476"/>
            <a:ext cx="5986836" cy="199505"/>
          </a:xfrm>
          <a:prstGeom prst="rect">
            <a:avLst/>
          </a:prstGeom>
          <a:solidFill>
            <a:srgbClr val="33CCFF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19155-6637-B0BC-359A-49687A733F1A}"/>
              </a:ext>
            </a:extLst>
          </p:cNvPr>
          <p:cNvSpPr txBox="1"/>
          <p:nvPr/>
        </p:nvSpPr>
        <p:spPr>
          <a:xfrm>
            <a:off x="-4080359" y="1565563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한국대학총학생회 공동포럼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00E6E-4BC0-63E8-81A2-5522B8F8E1C5}"/>
              </a:ext>
            </a:extLst>
          </p:cNvPr>
          <p:cNvSpPr txBox="1"/>
          <p:nvPr/>
        </p:nvSpPr>
        <p:spPr>
          <a:xfrm>
            <a:off x="450396" y="512095"/>
            <a:ext cx="698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7월, 충주에서 다시 만난다</a:t>
            </a:r>
          </a:p>
        </p:txBody>
      </p:sp>
      <p:pic>
        <p:nvPicPr>
          <p:cNvPr id="10" name="그림 9" descr="폰트, 텍스트, 스크린샷, 그래픽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97F98243-E245-2767-5075-BDDE82B94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536" y="12585469"/>
            <a:ext cx="1492022" cy="397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CE14B-02DE-98E5-8269-29F7FB69807C}"/>
              </a:ext>
            </a:extLst>
          </p:cNvPr>
          <p:cNvSpPr txBox="1"/>
          <p:nvPr/>
        </p:nvSpPr>
        <p:spPr>
          <a:xfrm>
            <a:off x="450396" y="1728362"/>
            <a:ext cx="8926360" cy="963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한편, </a:t>
            </a:r>
            <a:r>
              <a:rPr lang="ko-KR" altLang="en-US" sz="32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2026년도 제21회 전국대학조정대회</a:t>
            </a: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는 오는 7월 25일부터 26일까지 이틀간 충주 탄금호 국제조정경기장에서 개최될 예정이다.</a:t>
            </a:r>
          </a:p>
          <a:p>
            <a:pPr>
              <a:lnSpc>
                <a:spcPct val="130000"/>
              </a:lnSpc>
            </a:pP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32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 xml:space="preserve">침체기를 딛고 다시 노를 젓기 시작한 조정부가 DGIST의 이름을 걸고 힘차게 나아가기를 기대한다.</a:t>
            </a:r>
          </a:p>
        </p:txBody>
      </p:sp>
    </p:spTree>
    <p:extLst>
      <p:ext uri="{BB962C8B-B14F-4D97-AF65-F5344CB8AC3E}">
        <p14:creationId xmlns:p14="http://schemas.microsoft.com/office/powerpoint/2010/main" val="4251793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사용자 지정 3">
      <a:dk1>
        <a:sysClr val="windowText" lastClr="000000"/>
      </a:dk1>
      <a:lt1>
        <a:srgbClr val="FFFBF7"/>
      </a:lt1>
      <a:dk2>
        <a:srgbClr val="44546A"/>
      </a:dk2>
      <a:lt2>
        <a:srgbClr val="E7E6E6"/>
      </a:lt2>
      <a:accent1>
        <a:srgbClr val="F8B45D"/>
      </a:accent1>
      <a:accent2>
        <a:srgbClr val="7299DD"/>
      </a:accent2>
      <a:accent3>
        <a:srgbClr val="A21946"/>
      </a:accent3>
      <a:accent4>
        <a:srgbClr val="BA00FF"/>
      </a:accent4>
      <a:accent5>
        <a:srgbClr val="C5FF00"/>
      </a:accent5>
      <a:accent6>
        <a:srgbClr val="FF5100"/>
      </a:accent6>
      <a:hlink>
        <a:srgbClr val="0150FF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ce2a8b-558f-43c3-905a-a4a5a9301e31">
      <Terms xmlns="http://schemas.microsoft.com/office/infopath/2007/PartnerControls"/>
    </lcf76f155ced4ddcb4097134ff3c332f>
    <TaxCatchAll xmlns="1b0e1f06-4947-4592-b771-34f2fb6430a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70AF04901A4A64589128CD039FBBBA6" ma:contentTypeVersion="19" ma:contentTypeDescription="새 문서를 만듭니다." ma:contentTypeScope="" ma:versionID="63b809f1b263d08110f913873d23e3c6">
  <xsd:schema xmlns:xsd="http://www.w3.org/2001/XMLSchema" xmlns:xs="http://www.w3.org/2001/XMLSchema" xmlns:p="http://schemas.microsoft.com/office/2006/metadata/properties" xmlns:ns2="40ce2a8b-558f-43c3-905a-a4a5a9301e31" xmlns:ns3="1b0e1f06-4947-4592-b771-34f2fb6430a2" targetNamespace="http://schemas.microsoft.com/office/2006/metadata/properties" ma:root="true" ma:fieldsID="6b7aeff6863a3fcbccaf3e2f709cce1c" ns2:_="" ns3:_="">
    <xsd:import namespace="40ce2a8b-558f-43c3-905a-a4a5a9301e31"/>
    <xsd:import namespace="1b0e1f06-4947-4592-b771-34f2fb6430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ce2a8b-558f-43c3-905a-a4a5a9301e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eeffe2db-b124-4703-9eff-df6b4449aa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e1f06-4947-4592-b771-34f2fb6430a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d12bef0-0ddb-418a-96fd-7404d2414f2e}" ma:internalName="TaxCatchAll" ma:showField="CatchAllData" ma:web="1b0e1f06-4947-4592-b771-34f2fb6430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EC94D7-D30B-47BD-9CA3-99FA15A54917}">
  <ds:schemaRefs>
    <ds:schemaRef ds:uri="http://schemas.microsoft.com/office/2006/metadata/properties"/>
    <ds:schemaRef ds:uri="40ce2a8b-558f-43c3-905a-a4a5a9301e31"/>
    <ds:schemaRef ds:uri="http://purl.org/dc/terms/"/>
    <ds:schemaRef ds:uri="1b0e1f06-4947-4592-b771-34f2fb6430a2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AFFA01-8AB9-4C43-86D7-1382E4F944E9}"/>
</file>

<file path=customXml/itemProps3.xml><?xml version="1.0" encoding="utf-8"?>
<ds:datastoreItem xmlns:ds="http://schemas.openxmlformats.org/officeDocument/2006/customXml" ds:itemID="{A737C378-881A-440E-82C8-D247CD44CB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5810</TotalTime>
  <Words>592</Words>
  <Application>Microsoft Office PowerPoint</Application>
  <PresentationFormat>사용자 지정</PresentationFormat>
  <Paragraphs>86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김오민</dc:creator>
  <cp:lastModifiedBy>김신지</cp:lastModifiedBy>
  <cp:revision>19</cp:revision>
  <dcterms:created xsi:type="dcterms:W3CDTF">2023-01-29T08:36:42Z</dcterms:created>
  <dcterms:modified xsi:type="dcterms:W3CDTF">2025-07-26T11:50:50Z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0x010100070AF04901A4A64589128CD039FBBBA6</vt:lpwstr>
  </property>
  <property fmtid="{D5CDD505-2E9C-101B-9397-08002B2CF9AE}" pid="3" name="MediaServiceImageTags">
    <vt:lpwstr/>
  </property>
</Properties>
</file>